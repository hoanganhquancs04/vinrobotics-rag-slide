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Lora" pitchFamily="2" charset="0"/>
      <p:bold r:id="rId12"/>
    </p:embeddedFont>
    <p:embeddedFont>
      <p:font typeface="Nunito" pitchFamily="2" charset="0"/>
      <p:italic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D6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715000" y="4519612"/>
            <a:ext cx="762000" cy="381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440781" y="2300287"/>
            <a:ext cx="7310437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Nunito"/>
              </a:rPr>
              <a:t>LỄ HỘI LỚN NHẤT NĂM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58020" y="2709862"/>
            <a:ext cx="7675959" cy="838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6600"/>
              </a:lnSpc>
            </a:pPr>
            <a:r>
              <a:rPr sz="6000" b="1" i="0" u="none">
                <a:solidFill>
                  <a:srgbClr val="0F172A"/>
                </a:solidFill>
                <a:latin typeface="Lora"/>
              </a:rPr>
              <a:t>Tết Nguyên Đán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40781" y="3776662"/>
            <a:ext cx="7310437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0F172A"/>
                </a:solidFill>
                <a:latin typeface="Nunito"/>
              </a:rPr>
              <a:t>Hương Sắc Mùa Xuân - Khởi Đầu Mới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609600"/>
            <a:ext cx="11430000" cy="3905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450A0A"/>
                </a:solidFill>
                <a:latin typeface="Lora"/>
              </a:rPr>
              <a:t>Khởi Nguồn Nam Mới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27734" y="2262187"/>
            <a:ext cx="6536531" cy="1524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2000"/>
              </a:lnSpc>
            </a:pPr>
            <a:r>
              <a:rPr sz="12000" b="1" i="0" u="none">
                <a:solidFill>
                  <a:srgbClr val="B91C1C"/>
                </a:solidFill>
                <a:latin typeface="Lora"/>
              </a:rPr>
              <a:t>Mùng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4515" y="3938587"/>
            <a:ext cx="4702968" cy="514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000" b="1" i="0" u="none">
                <a:solidFill>
                  <a:srgbClr val="7F1D1D"/>
                </a:solidFill>
                <a:latin typeface="Nunito"/>
              </a:rPr>
              <a:t>Tháng Giêng Âm Lịch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4125" y="4757737"/>
            <a:ext cx="71437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64748B"/>
                </a:solidFill>
                <a:latin typeface="Nunito"/>
              </a:rPr>
              <a:t>Ngày đầu tiên của năm mới, đánh dấu sự chuyển giao đất trời, vạn vật đâm chồi nảy lộc.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248400" y="1996529"/>
            <a:ext cx="59436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B91C1C"/>
                </a:solidFill>
                <a:latin typeface="Nunito"/>
              </a:rPr>
              <a:t>ĐÓN CHÀO NĂM MỚI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48400" y="2377529"/>
            <a:ext cx="5943600" cy="5485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 u="none">
                <a:solidFill>
                  <a:srgbClr val="450A0A"/>
                </a:solidFill>
                <a:latin typeface="Lora"/>
              </a:rPr>
              <a:t>Khoảnh Khắc Giao Thời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38900" y="3230909"/>
            <a:ext cx="508635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100" b="1" i="0" u="none">
                <a:solidFill>
                  <a:srgbClr val="D97706"/>
                </a:solidFill>
                <a:latin typeface="Nunito"/>
              </a:rPr>
              <a:t>Pháo hoa rực rỡ: Xua đuổi xui xẻo, đón chào bình 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72275" y="4228951"/>
            <a:ext cx="5419725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100" b="1" i="0" u="none">
                <a:solidFill>
                  <a:srgbClr val="D97706"/>
                </a:solidFill>
                <a:latin typeface="Nunito"/>
              </a:rPr>
              <a:t>Cúng Giao thừa: Kính cáo trời đất và tổ tiên.</a:t>
            </a:r>
          </a:p>
        </p:txBody>
      </p:sp>
      <p:pic>
        <p:nvPicPr>
          <p:cNvPr id="8" name="Picture 7" descr="Pháo hoa đêm giao thừa">
            <a:extLst>
              <a:ext uri="{FF2B5EF4-FFF2-40B4-BE49-F238E27FC236}">
                <a16:creationId xmlns:a16="http://schemas.microsoft.com/office/drawing/2014/main" id="{6396ABB1-4CF0-6ED2-65D3-A40E30069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59" y="235458"/>
            <a:ext cx="5734790" cy="662254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395537"/>
            <a:ext cx="3352800" cy="2914650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419600" y="2395537"/>
            <a:ext cx="3352800" cy="2914650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395537"/>
            <a:ext cx="3352800" cy="2914650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2852737"/>
            <a:ext cx="762000" cy="762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2852737"/>
            <a:ext cx="762000" cy="762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0" y="2852737"/>
            <a:ext cx="762000" cy="762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0" y="3081337"/>
            <a:ext cx="304800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4550" y="3081337"/>
            <a:ext cx="342900" cy="304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20250" y="3081337"/>
            <a:ext cx="266700" cy="30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-285750" y="609600"/>
            <a:ext cx="12763500" cy="3905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450A0A"/>
                </a:solidFill>
                <a:latin typeface="Lora"/>
              </a:rPr>
              <a:t>Biểu Tượng Sắc Xuân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175" y="3843337"/>
            <a:ext cx="3600450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450A0A"/>
                </a:solidFill>
                <a:latin typeface="Lora"/>
              </a:rPr>
              <a:t>Hoa Đào, Hoa Mai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900" y="4338637"/>
            <a:ext cx="34290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64748B"/>
                </a:solidFill>
                <a:latin typeface="Nunito"/>
              </a:rPr>
              <a:t>Sắc thắm phương Bắc và sắc vàng phương Nam rực rỡ.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5775" y="3843337"/>
            <a:ext cx="3600450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450A0A"/>
                </a:solidFill>
                <a:latin typeface="Lora"/>
              </a:rPr>
              <a:t>Câu Đối Đỏ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1500" y="4338637"/>
            <a:ext cx="34290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64748B"/>
                </a:solidFill>
                <a:latin typeface="Nunito"/>
              </a:rPr>
              <a:t>Những lời chúc tụng tốt lành viết trên giấy đỏ.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3375" y="3843337"/>
            <a:ext cx="3600450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450A0A"/>
                </a:solidFill>
                <a:latin typeface="Lora"/>
              </a:rPr>
              <a:t>Cây Nêu, Quất Cảnh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39100" y="4338637"/>
            <a:ext cx="34290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64748B"/>
                </a:solidFill>
                <a:latin typeface="Nunito"/>
              </a:rPr>
              <a:t>Biểu trưng cho sức sống mạnh mẽ và tài lộc đâm chồi.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4078485"/>
            <a:ext cx="4572000" cy="1028700"/>
          </a:xfrm>
          <a:prstGeom prst="rect">
            <a:avLst/>
          </a:prstGeom>
          <a:solidFill>
            <a:srgbClr val="A3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62000" y="4078485"/>
            <a:ext cx="38100" cy="10287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1750665"/>
            <a:ext cx="57150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BBF24"/>
                </a:solidFill>
                <a:latin typeface="Nunito"/>
              </a:rPr>
              <a:t>HƯƠNG VỊ TRUYỀN THỐNG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131665"/>
            <a:ext cx="6000750" cy="594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680"/>
              </a:lnSpc>
            </a:pPr>
            <a:r>
              <a:rPr sz="3900" b="1" i="0" u="none">
                <a:solidFill>
                  <a:srgbClr val="FFFFFF"/>
                </a:solidFill>
                <a:latin typeface="Lora"/>
              </a:rPr>
              <a:t>Bánh Chưng Xanh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030735"/>
            <a:ext cx="4667250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FECACA"/>
                </a:solidFill>
                <a:latin typeface="Nunito"/>
              </a:rPr>
              <a:t>Bọc trong lá dong xanh mát, mang ý nghĩa biết ơn đất trời và tổ tiên.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700" y="4307085"/>
            <a:ext cx="41719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1" u="none">
                <a:solidFill>
                  <a:srgbClr val="F8FAFC"/>
                </a:solidFill>
                <a:latin typeface="Nunito"/>
              </a:rPr>
              <a:t>Trời tròn, đất vuông. Nếp dẻo thơm quyện cùng nhân đậu xanh thịt mỡ.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4217640"/>
            <a:ext cx="38100" cy="38100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62000" y="4789140"/>
            <a:ext cx="38100" cy="381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1687859"/>
            <a:ext cx="57150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B91C1C"/>
                </a:solidFill>
                <a:latin typeface="Nunito"/>
              </a:rPr>
              <a:t>THÀNH KÍNH TỔ TIÊN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068859"/>
            <a:ext cx="6000750" cy="5485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 u="none">
                <a:solidFill>
                  <a:srgbClr val="450A0A"/>
                </a:solidFill>
                <a:latin typeface="Lora"/>
              </a:rPr>
              <a:t>Mâm Ngũ Quả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922240"/>
            <a:ext cx="46672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475569"/>
                </a:solidFill>
                <a:latin typeface="Nunito"/>
              </a:rPr>
              <a:t>Dâng lên bàn thờ gia tiên những sản vật tinh túy nhất, gửi gắm ước nguyện cho một năm sung túc.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4265265"/>
            <a:ext cx="519112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Nunito"/>
              </a:rPr>
              <a:t>Miền Bắc: Chuối xanh, bưởi vàng, quất đỏ...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4836765"/>
            <a:ext cx="5357812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Nunito"/>
              </a:rPr>
              <a:t>Miền Nam: Mãng cầu, sung, dừa, đu đủ, xoài.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285750" y="609600"/>
            <a:ext cx="12763500" cy="3905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450A0A"/>
                </a:solidFill>
                <a:latin typeface="Lora"/>
              </a:rPr>
              <a:t>Hành Trình Đón Xuân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3929062"/>
            <a:ext cx="8534400" cy="38100"/>
          </a:xfrm>
          <a:prstGeom prst="rect">
            <a:avLst/>
          </a:prstGeom>
          <a:solidFill>
            <a:srgbClr val="FC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62000" y="3024187"/>
            <a:ext cx="3598961" cy="1809750"/>
          </a:xfrm>
          <a:prstGeom prst="rect">
            <a:avLst/>
          </a:prstGeom>
          <a:solidFill>
            <a:srgbClr val="FFF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60961" y="3024187"/>
            <a:ext cx="3691086" cy="1809750"/>
          </a:xfrm>
          <a:prstGeom prst="rect">
            <a:avLst/>
          </a:prstGeom>
          <a:solidFill>
            <a:srgbClr val="FFF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052048" y="3024187"/>
            <a:ext cx="3377803" cy="1809750"/>
          </a:xfrm>
          <a:prstGeom prst="rect">
            <a:avLst/>
          </a:prstGeom>
          <a:solidFill>
            <a:srgbClr val="FFF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256680" y="3024187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901630" y="3024187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436149" y="3024187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7F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13805" y="3024187"/>
            <a:ext cx="895350" cy="609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00" b="1" i="0" u="none">
                <a:solidFill>
                  <a:srgbClr val="FFFFFF"/>
                </a:solidFill>
                <a:latin typeface="Nunito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3793" y="3862387"/>
            <a:ext cx="1450181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450A0A"/>
                </a:solidFill>
                <a:latin typeface="Lora"/>
              </a:rPr>
              <a:t>Tất Niên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7879" y="4319587"/>
            <a:ext cx="3927202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64748B"/>
                </a:solidFill>
                <a:latin typeface="Nunito"/>
              </a:rPr>
              <a:t>Dọn dẹp nhà cửa và bữa cơm sum vầy.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58755" y="3024187"/>
            <a:ext cx="895350" cy="609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00" b="1" i="0" u="none">
                <a:solidFill>
                  <a:srgbClr val="FFFFFF"/>
                </a:solidFill>
                <a:latin typeface="Nunito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63492" y="3862387"/>
            <a:ext cx="1687710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450A0A"/>
                </a:solidFill>
                <a:latin typeface="Lora"/>
              </a:rPr>
              <a:t>Giao Thừa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85325" y="4319587"/>
            <a:ext cx="4042357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64748B"/>
                </a:solidFill>
                <a:latin typeface="Nunito"/>
              </a:rPr>
              <a:t>Đón thời khắc thiêng liêng chuyển năm.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93274" y="3024187"/>
            <a:ext cx="895350" cy="609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00" b="1" i="0" u="none">
                <a:solidFill>
                  <a:srgbClr val="FFFFFF"/>
                </a:solidFill>
                <a:latin typeface="Nunit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69449" y="3862387"/>
            <a:ext cx="1500187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450A0A"/>
                </a:solidFill>
                <a:latin typeface="Lora"/>
              </a:rPr>
              <a:t>Chúc Tết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15572" y="4319587"/>
            <a:ext cx="3650753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64748B"/>
                </a:solidFill>
                <a:latin typeface="Nunito"/>
              </a:rPr>
              <a:t>Thăm hỏi họ hàng, du xuân lễ chùa.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185100"/>
            <a:ext cx="12192000" cy="2124075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8185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0400" y="8942337"/>
            <a:ext cx="609600" cy="609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8642300"/>
            <a:ext cx="9376171" cy="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FFFFF"/>
                </a:solidFill>
                <a:latin typeface="Lora"/>
              </a:rPr>
              <a:t>Trao Gửi May Mắn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9242375"/>
            <a:ext cx="7239000" cy="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FCA5A5"/>
                </a:solidFill>
                <a:latin typeface="Nunito"/>
              </a:rPr>
              <a:t>Phong bao lì xì đỏ thắm mang theo lời chúc tuổi mới bình an, khỏe mạnh và tràn đầy niềm vui.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0" y="0"/>
            <a:ext cx="67056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1547068"/>
            <a:ext cx="51816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48400" y="2309068"/>
            <a:ext cx="5540692" cy="1188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680"/>
              </a:lnSpc>
            </a:pPr>
            <a:r>
              <a:rPr sz="3600" b="1" i="0" u="none">
                <a:solidFill>
                  <a:srgbClr val="B91C1C"/>
                </a:solidFill>
                <a:latin typeface="Lora"/>
              </a:rPr>
              <a:t>"Tết là ngày trở về, là sum họp đoàn viên."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400" y="3726209"/>
            <a:ext cx="5276850" cy="15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sz="1950" b="0" i="0" u="none">
                <a:solidFill>
                  <a:srgbClr val="475569"/>
                </a:solidFill>
                <a:latin typeface="Nunito"/>
              </a:rPr>
              <a:t>Dù đi muôn nơi, khoảnh khắc cả gia đình quây quần bên mâm cơm ngày Tết vẫn luôn là nơi ấm áp và thiêng liêng nhất trong tâm hồn người Việt.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524500" y="5010150"/>
            <a:ext cx="1143000" cy="1905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1828800"/>
            <a:ext cx="609600" cy="609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045493" y="2819400"/>
            <a:ext cx="8101012" cy="781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FFFFFF"/>
                </a:solidFill>
                <a:latin typeface="Lora"/>
              </a:rPr>
              <a:t>Chúc Mừng Năm Mới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4125" y="3829050"/>
            <a:ext cx="7143750" cy="723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FCA5A5"/>
                </a:solidFill>
                <a:latin typeface="Nunito"/>
              </a:rPr>
              <a:t>Kính chúc một năm mới An Khang Thịnh Vượng, Vạn Sự Như Ý và dồi dào sức khỏe!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373</Words>
  <Application>Microsoft Office PowerPoint</Application>
  <PresentationFormat>Widescreen</PresentationFormat>
  <Paragraphs>43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Nunito</vt:lpstr>
      <vt:lpstr>Arial</vt:lpstr>
      <vt:lpstr>Calibri</vt:lpstr>
      <vt:lpstr>Lora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Hoang Quan</cp:lastModifiedBy>
  <cp:revision>2</cp:revision>
  <dcterms:created xsi:type="dcterms:W3CDTF">2013-01-27T09:14:16Z</dcterms:created>
  <dcterms:modified xsi:type="dcterms:W3CDTF">2026-09-25T04:45:04Z</dcterms:modified>
  <cp:category/>
</cp:coreProperties>
</file>