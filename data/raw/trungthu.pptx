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Lora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-regular.fntdata"/><Relationship Id="rId11" Type="http://schemas.openxmlformats.org/officeDocument/2006/relationships/slide" Target="slides/slide6.xml"/><Relationship Id="rId22" Type="http://schemas.openxmlformats.org/officeDocument/2006/relationships/font" Target="fonts/Lora-italic.fntdata"/><Relationship Id="rId10" Type="http://schemas.openxmlformats.org/officeDocument/2006/relationships/slide" Target="slides/slide5.xml"/><Relationship Id="rId21" Type="http://schemas.openxmlformats.org/officeDocument/2006/relationships/font" Target="fonts/Lor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or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54A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715000" y="4483298"/>
            <a:ext cx="762000" cy="381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95625" y="2336452"/>
            <a:ext cx="6000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7706"/>
                </a:solidFill>
                <a:latin typeface="Nunito"/>
                <a:ea typeface="Nunito"/>
                <a:cs typeface="Nunito"/>
                <a:sym typeface="Nunito"/>
              </a:rPr>
              <a:t>VĂN HÓA TRUYỀN THỐNG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45606" y="2746027"/>
            <a:ext cx="63007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Tết Trung Thu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095625" y="3797498"/>
            <a:ext cx="600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Nunito"/>
                <a:ea typeface="Nunito"/>
                <a:cs typeface="Nunito"/>
                <a:sym typeface="Nunito"/>
              </a:rPr>
              <a:t>Lễ hội của sự đoàn viên và hi vọng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762000" y="609600"/>
            <a:ext cx="114300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Thời Điểm Chạm Ngõ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-163710" y="2409825"/>
            <a:ext cx="12519421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B91C1C"/>
                </a:solidFill>
                <a:latin typeface="Lora"/>
                <a:ea typeface="Lora"/>
                <a:cs typeface="Lora"/>
                <a:sym typeface="Lora"/>
              </a:rPr>
              <a:t>Rằm Tháng Tám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405312" y="3971925"/>
            <a:ext cx="33813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(Âm lịch hàng năm)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524125" y="4610100"/>
            <a:ext cx="7143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Đêm trăng sáng nhất, tròn nhất trong năm. Lễ hội lớn thứ hai của người Việt.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341292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400" y="437286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6248400" y="1577578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91C1C"/>
                </a:solidFill>
                <a:latin typeface="Nunito"/>
                <a:ea typeface="Nunito"/>
                <a:cs typeface="Nunito"/>
                <a:sym typeface="Nunito"/>
              </a:rPr>
              <a:t>NGUỒN GỐC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248400" y="1958578"/>
            <a:ext cx="5540692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Lễ Tạ Ơn Của Nhà Nông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05600" y="3360539"/>
            <a:ext cx="48196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Nunito"/>
                <a:ea typeface="Nunito"/>
                <a:cs typeface="Nunito"/>
                <a:sym typeface="Nunito"/>
              </a:rPr>
              <a:t>Mừng vụ mùa: Nông dân tạ ơn thần linh sau vụ thu hoạch.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4320480"/>
            <a:ext cx="47529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0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Nunito"/>
                <a:ea typeface="Nunito"/>
                <a:cs typeface="Nunito"/>
                <a:sym typeface="Nunito"/>
              </a:rPr>
              <a:t>Cầu mưa thuận gió hòa: Khởi đầu cho những mùa vụ mới.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762000" y="4284315"/>
            <a:ext cx="4572000" cy="1028700"/>
          </a:xfrm>
          <a:prstGeom prst="rect">
            <a:avLst/>
          </a:prstGeom>
          <a:solidFill>
            <a:srgbClr val="1B23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62000" y="4284315"/>
            <a:ext cx="38100" cy="10287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62000" y="1544984"/>
            <a:ext cx="571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Nunito"/>
                <a:ea typeface="Nunito"/>
                <a:cs typeface="Nunito"/>
                <a:sym typeface="Nunito"/>
              </a:rPr>
              <a:t>TRUYỀN THUYẾT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62000" y="1925984"/>
            <a:ext cx="6000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Tích Xưa Đêm Trăng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2779365"/>
            <a:ext cx="46672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Nunito"/>
                <a:ea typeface="Nunito"/>
                <a:cs typeface="Nunito"/>
                <a:sym typeface="Nunito"/>
              </a:rPr>
              <a:t>Trăng rằm gắn liền với hình ảnh chú Cuội ngồi gốc cây đa và chị Hằng Nga xinh đẹp.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28700" y="4512915"/>
            <a:ext cx="4171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F8FAFC"/>
                </a:solidFill>
                <a:latin typeface="Nunito"/>
                <a:ea typeface="Nunito"/>
                <a:cs typeface="Nunito"/>
                <a:sym typeface="Nunito"/>
              </a:rPr>
              <a:t>Biểu tượng của lòng nhân ái và ước mơ vươn tới cái đẹp.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762000" y="2395537"/>
            <a:ext cx="3352800" cy="2914650"/>
          </a:xfrm>
          <a:prstGeom prst="roundRect">
            <a:avLst>
              <a:gd fmla="val 52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4419600" y="2395537"/>
            <a:ext cx="3352800" cy="2914650"/>
          </a:xfrm>
          <a:prstGeom prst="roundRect">
            <a:avLst>
              <a:gd fmla="val 52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8077200" y="2395537"/>
            <a:ext cx="3352800" cy="2914650"/>
          </a:xfrm>
          <a:prstGeom prst="roundRect">
            <a:avLst>
              <a:gd fmla="val 522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8527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28527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2600" y="285273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24100" y="30813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1700" y="3081337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1200" y="30813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-285750" y="609600"/>
            <a:ext cx="127635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Linh Hồn Của Đêm Hội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38175" y="3843337"/>
            <a:ext cx="3600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Trăng Rằm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23900" y="433863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Biểu tượng của sự viên mãn và đoàn tụ.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295775" y="3843337"/>
            <a:ext cx="3600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Lồng Đèn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381500" y="433863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Ánh sáng soi đường cho niềm vui con trẻ.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953375" y="3843337"/>
            <a:ext cx="3600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Bánh Trung Thu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039100" y="4338637"/>
            <a:ext cx="3429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Hương vị ngọt ngào của tình thân gia đình.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762000" y="4358580"/>
            <a:ext cx="38100" cy="3048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62000" y="4891980"/>
            <a:ext cx="38100" cy="30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762000" y="1661219"/>
            <a:ext cx="4900612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Hương Vị Trăng Rằm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3063180"/>
            <a:ext cx="4667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Bánh nướng và bánh dẻo là hai thức quà không thể thiếu, mang hình dáng tròn trịa biểu trưng cho sự trọn vẹn.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90600" y="4358580"/>
            <a:ext cx="479821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Nunito"/>
                <a:ea typeface="Nunito"/>
                <a:cs typeface="Nunito"/>
                <a:sym typeface="Nunito"/>
              </a:rPr>
              <a:t>Bánh Nướng: Vỏ vàng ươm, đậm đà.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90600" y="489198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Nunito"/>
                <a:ea typeface="Nunito"/>
                <a:cs typeface="Nunito"/>
                <a:sym typeface="Nunito"/>
              </a:rPr>
              <a:t>Bánh Dẻo: Vỏ trắng muốt, thanh tao.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-285750" y="609600"/>
            <a:ext cx="127635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Đêm Hội Trăng Rằm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1828800" y="3929062"/>
            <a:ext cx="85344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762000" y="3024187"/>
            <a:ext cx="3450282" cy="180975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212282" y="3024187"/>
            <a:ext cx="3599557" cy="180975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811839" y="3024187"/>
            <a:ext cx="3618160" cy="180975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82266" y="30241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707260" y="30241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9316045" y="3024187"/>
            <a:ext cx="609600" cy="609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2039391" y="30241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877466" y="3862387"/>
            <a:ext cx="1600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Rước Đèn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16464" y="4319587"/>
            <a:ext cx="374135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Trẻ em xách đèn ông sao khắp xóm.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564385" y="30241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464373" y="3862387"/>
            <a:ext cx="145018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Múa Lân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048087" y="4319587"/>
            <a:ext cx="3927946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Tiếng trống rộn rã xua đuổi điềm xấu.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173170" y="3024187"/>
            <a:ext cx="895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9182695" y="3862387"/>
            <a:ext cx="12201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Lora"/>
                <a:ea typeface="Lora"/>
                <a:cs typeface="Lora"/>
                <a:sym typeface="Lora"/>
              </a:rPr>
              <a:t>Phá Cỗ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45319" y="4319587"/>
            <a:ext cx="3951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Nunito"/>
                <a:ea typeface="Nunito"/>
                <a:cs typeface="Nunito"/>
                <a:sym typeface="Nunito"/>
              </a:rPr>
              <a:t>Thưởng thức bánh trái dưới trăng rằm.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0" y="8189118"/>
            <a:ext cx="12192000" cy="208597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8189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0400" y="8927306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762000" y="8646318"/>
            <a:ext cx="8751093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Nhịp Trống Múa Lân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9246393"/>
            <a:ext cx="67627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CA5A5"/>
                </a:solidFill>
                <a:latin typeface="Nunito"/>
                <a:ea typeface="Nunito"/>
                <a:cs typeface="Nunito"/>
                <a:sym typeface="Nunito"/>
              </a:rPr>
              <a:t>Hoạt động náo nhiệt mang lại sự may mắn, thịnh vượng và niềm vui sướng cho mọi lứa tuổi.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0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547068"/>
            <a:ext cx="5181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6248400" y="2309068"/>
            <a:ext cx="5540692" cy="1188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B91C1C"/>
                </a:solidFill>
                <a:latin typeface="Lora"/>
                <a:ea typeface="Lora"/>
                <a:cs typeface="Lora"/>
                <a:sym typeface="Lora"/>
              </a:rPr>
              <a:t>"Tết Trung Thu, Tết của sự Đoàn Viên."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248400" y="3726209"/>
            <a:ext cx="5276850" cy="15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Nunito"/>
                <a:ea typeface="Nunito"/>
                <a:cs typeface="Nunito"/>
                <a:sym typeface="Nunito"/>
              </a:rPr>
              <a:t>Hơn cả một lễ hội, đây là dịp để những người con phương xa trở về, cùng gia đình quây quần bên tách trà ấm và chiếc bánh ngọt ngào.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5524500" y="5010150"/>
            <a:ext cx="1143000" cy="1905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828800"/>
            <a:ext cx="4572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726703" y="2819400"/>
            <a:ext cx="8738592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Chúc Mừng Trung Thu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2524125" y="3829050"/>
            <a:ext cx="71437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Nunito"/>
                <a:ea typeface="Nunito"/>
                <a:cs typeface="Nunito"/>
                <a:sym typeface="Nunito"/>
              </a:rPr>
              <a:t>Kính chúc bạn và gia đình một mùa trăng rằm ấm áp, trọn vẹn và tràn ngập tiếng cười.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