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Gliker Semi-Bold" charset="1" panose="00000700000000000000"/>
      <p:regular r:id="rId20"/>
    </p:embeddedFont>
    <p:embeddedFont>
      <p:font typeface="Public Sans" charset="1" panose="00000000000000000000"/>
      <p:regular r:id="rId21"/>
    </p:embeddedFont>
    <p:embeddedFont>
      <p:font typeface="Public Sans Bold" charset="1" panose="00000000000000000000"/>
      <p:regular r:id="rId22"/>
    </p:embeddedFont>
    <p:embeddedFont>
      <p:font typeface="Gliker Bold" charset="1" panose="00000800000000000000"/>
      <p:regular r:id="rId23"/>
    </p:embeddedFont>
    <p:embeddedFont>
      <p:font typeface="Blueberry" charset="1" panose="02000500000000000000"/>
      <p:regular r:id="rId24"/>
    </p:embeddedFont>
    <p:embeddedFont>
      <p:font typeface="Nunito"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24.png" Type="http://schemas.openxmlformats.org/officeDocument/2006/relationships/image"/><Relationship Id="rId13" Target="../media/image25.svg" Type="http://schemas.openxmlformats.org/officeDocument/2006/relationships/image"/><Relationship Id="rId14" Target="../media/image26.png" Type="http://schemas.openxmlformats.org/officeDocument/2006/relationships/image"/><Relationship Id="rId15" Target="../media/image27.svg" Type="http://schemas.openxmlformats.org/officeDocument/2006/relationships/image"/><Relationship Id="rId16" Target="../media/image28.png" Type="http://schemas.openxmlformats.org/officeDocument/2006/relationships/image"/><Relationship Id="rId17" Target="../media/image11.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11.pn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49.pn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49.pn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49.pn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8.png" Type="http://schemas.openxmlformats.org/officeDocument/2006/relationships/image"/><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3.png" Type="http://schemas.openxmlformats.org/officeDocument/2006/relationships/image"/><Relationship Id="rId11" Target="../media/image64.svg" Type="http://schemas.openxmlformats.org/officeDocument/2006/relationships/image"/><Relationship Id="rId12" Target="../media/image65.png" Type="http://schemas.openxmlformats.org/officeDocument/2006/relationships/image"/><Relationship Id="rId2" Target="../media/image59.png" Type="http://schemas.openxmlformats.org/officeDocument/2006/relationships/image"/><Relationship Id="rId3" Target="../media/image60.sv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3.png" Type="http://schemas.openxmlformats.org/officeDocument/2006/relationships/image"/><Relationship Id="rId11" Target="../media/image64.svg" Type="http://schemas.openxmlformats.org/officeDocument/2006/relationships/image"/><Relationship Id="rId12" Target="../media/image66.png" Type="http://schemas.openxmlformats.org/officeDocument/2006/relationships/image"/><Relationship Id="rId2" Target="../media/image59.png" Type="http://schemas.openxmlformats.org/officeDocument/2006/relationships/image"/><Relationship Id="rId3" Target="../media/image60.sv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24.png" Type="http://schemas.openxmlformats.org/officeDocument/2006/relationships/image"/><Relationship Id="rId13" Target="../media/image25.svg" Type="http://schemas.openxmlformats.org/officeDocument/2006/relationships/image"/><Relationship Id="rId14" Target="../media/image26.png" Type="http://schemas.openxmlformats.org/officeDocument/2006/relationships/image"/><Relationship Id="rId15" Target="../media/image27.svg" Type="http://schemas.openxmlformats.org/officeDocument/2006/relationships/image"/><Relationship Id="rId16" Target="../media/image11.png" Type="http://schemas.openxmlformats.org/officeDocument/2006/relationships/image"/><Relationship Id="rId17" Target="../media/image67.png" Type="http://schemas.openxmlformats.org/officeDocument/2006/relationships/image"/><Relationship Id="rId18" Target="../media/image68.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png" Type="http://schemas.openxmlformats.org/officeDocument/2006/relationships/image"/><Relationship Id="rId2" Target="../media/image69.png" Type="http://schemas.openxmlformats.org/officeDocument/2006/relationships/image"/><Relationship Id="rId3" Target="../media/image70.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 Id="rId8" Target="../media/image75.png" Type="http://schemas.openxmlformats.org/officeDocument/2006/relationships/image"/><Relationship Id="rId9" Target="../media/image7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png" Type="http://schemas.openxmlformats.org/officeDocument/2006/relationships/image"/><Relationship Id="rId3" Target="../media/image72.svg" Type="http://schemas.openxmlformats.org/officeDocument/2006/relationships/image"/><Relationship Id="rId4" Target="../media/image78.png" Type="http://schemas.openxmlformats.org/officeDocument/2006/relationships/image"/><Relationship Id="rId5" Target="../media/image79.svg" Type="http://schemas.openxmlformats.org/officeDocument/2006/relationships/image"/><Relationship Id="rId6" Target="../media/image80.png" Type="http://schemas.openxmlformats.org/officeDocument/2006/relationships/image"/><Relationship Id="rId7" Target="../media/image81.svg" Type="http://schemas.openxmlformats.org/officeDocument/2006/relationships/image"/><Relationship Id="rId8" Target="../media/image82.png" Type="http://schemas.openxmlformats.org/officeDocument/2006/relationships/image"/><Relationship Id="rId9" Target="../media/image8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86113" y="5729420"/>
            <a:ext cx="9144333" cy="6423894"/>
          </a:xfrm>
          <a:custGeom>
            <a:avLst/>
            <a:gdLst/>
            <a:ahLst/>
            <a:cxnLst/>
            <a:rect r="r" b="b" t="t" l="l"/>
            <a:pathLst>
              <a:path h="6423894" w="9144333">
                <a:moveTo>
                  <a:pt x="0" y="0"/>
                </a:moveTo>
                <a:lnTo>
                  <a:pt x="9144333" y="0"/>
                </a:lnTo>
                <a:lnTo>
                  <a:pt x="9144333" y="6423894"/>
                </a:lnTo>
                <a:lnTo>
                  <a:pt x="0" y="6423894"/>
                </a:lnTo>
                <a:lnTo>
                  <a:pt x="0" y="0"/>
                </a:lnTo>
                <a:close/>
              </a:path>
            </a:pathLst>
          </a:custGeom>
          <a:blipFill>
            <a:blip r:embed="rId2">
              <a:alphaModFix amt="50000"/>
            </a:blip>
            <a:stretch>
              <a:fillRect l="0" t="0" r="0" b="0"/>
            </a:stretch>
          </a:blipFill>
        </p:spPr>
      </p:sp>
      <p:sp>
        <p:nvSpPr>
          <p:cNvPr name="Freeform 3" id="3"/>
          <p:cNvSpPr/>
          <p:nvPr/>
        </p:nvSpPr>
        <p:spPr>
          <a:xfrm flipH="true" flipV="false" rot="-9966725">
            <a:off x="-2614204" y="-2184577"/>
            <a:ext cx="6797317" cy="6426554"/>
          </a:xfrm>
          <a:custGeom>
            <a:avLst/>
            <a:gdLst/>
            <a:ahLst/>
            <a:cxnLst/>
            <a:rect r="r" b="b" t="t" l="l"/>
            <a:pathLst>
              <a:path h="6426554" w="6797317">
                <a:moveTo>
                  <a:pt x="6797317" y="0"/>
                </a:moveTo>
                <a:lnTo>
                  <a:pt x="0" y="0"/>
                </a:lnTo>
                <a:lnTo>
                  <a:pt x="0" y="6426554"/>
                </a:lnTo>
                <a:lnTo>
                  <a:pt x="6797317" y="6426554"/>
                </a:lnTo>
                <a:lnTo>
                  <a:pt x="6797317" y="0"/>
                </a:lnTo>
                <a:close/>
              </a:path>
            </a:pathLst>
          </a:custGeom>
          <a:blipFill>
            <a:blip r:embed="rId3">
              <a:extLst>
                <a:ext uri="{96DAC541-7B7A-43D3-8B79-37D633B846F1}">
                  <asvg:svgBlip xmlns:asvg="http://schemas.microsoft.com/office/drawing/2016/SVG/main" r:embed="rId4"/>
                </a:ext>
              </a:extLst>
            </a:blip>
            <a:stretch>
              <a:fillRect l="-6368" t="-9253" r="-1380" b="-2899"/>
            </a:stretch>
          </a:blipFill>
        </p:spPr>
      </p:sp>
      <p:sp>
        <p:nvSpPr>
          <p:cNvPr name="Freeform 4" id="4"/>
          <p:cNvSpPr/>
          <p:nvPr/>
        </p:nvSpPr>
        <p:spPr>
          <a:xfrm flipH="false" flipV="false" rot="1842329">
            <a:off x="13638279" y="1737928"/>
            <a:ext cx="4777751" cy="4027525"/>
          </a:xfrm>
          <a:custGeom>
            <a:avLst/>
            <a:gdLst/>
            <a:ahLst/>
            <a:cxnLst/>
            <a:rect r="r" b="b" t="t" l="l"/>
            <a:pathLst>
              <a:path h="4027525" w="4777751">
                <a:moveTo>
                  <a:pt x="0" y="0"/>
                </a:moveTo>
                <a:lnTo>
                  <a:pt x="4777751" y="0"/>
                </a:lnTo>
                <a:lnTo>
                  <a:pt x="4777751" y="4027526"/>
                </a:lnTo>
                <a:lnTo>
                  <a:pt x="0" y="4027526"/>
                </a:lnTo>
                <a:lnTo>
                  <a:pt x="0" y="0"/>
                </a:lnTo>
                <a:close/>
              </a:path>
            </a:pathLst>
          </a:custGeom>
          <a:blipFill>
            <a:blip r:embed="rId5">
              <a:alphaModFix amt="80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2972153">
            <a:off x="-1607122" y="10210412"/>
            <a:ext cx="5271645" cy="4854306"/>
          </a:xfrm>
          <a:custGeom>
            <a:avLst/>
            <a:gdLst/>
            <a:ahLst/>
            <a:cxnLst/>
            <a:rect r="r" b="b" t="t" l="l"/>
            <a:pathLst>
              <a:path h="4854306" w="5271645">
                <a:moveTo>
                  <a:pt x="5271644" y="0"/>
                </a:moveTo>
                <a:lnTo>
                  <a:pt x="0" y="0"/>
                </a:lnTo>
                <a:lnTo>
                  <a:pt x="0" y="4854306"/>
                </a:lnTo>
                <a:lnTo>
                  <a:pt x="5271644" y="4854306"/>
                </a:lnTo>
                <a:lnTo>
                  <a:pt x="5271644"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true" flipV="true" rot="4632055">
            <a:off x="15381491" y="-659034"/>
            <a:ext cx="4385362" cy="4519051"/>
          </a:xfrm>
          <a:custGeom>
            <a:avLst/>
            <a:gdLst/>
            <a:ahLst/>
            <a:cxnLst/>
            <a:rect r="r" b="b" t="t" l="l"/>
            <a:pathLst>
              <a:path h="4519051" w="4385362">
                <a:moveTo>
                  <a:pt x="4385363" y="4519051"/>
                </a:moveTo>
                <a:lnTo>
                  <a:pt x="0" y="4519051"/>
                </a:lnTo>
                <a:lnTo>
                  <a:pt x="0" y="0"/>
                </a:lnTo>
                <a:lnTo>
                  <a:pt x="4385363" y="0"/>
                </a:lnTo>
                <a:lnTo>
                  <a:pt x="4385363" y="4519051"/>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 id="7"/>
          <p:cNvGrpSpPr/>
          <p:nvPr/>
        </p:nvGrpSpPr>
        <p:grpSpPr>
          <a:xfrm rot="0">
            <a:off x="7146399" y="4029120"/>
            <a:ext cx="5798514" cy="934681"/>
            <a:chOff x="0" y="0"/>
            <a:chExt cx="1358155" cy="218925"/>
          </a:xfrm>
        </p:grpSpPr>
        <p:sp>
          <p:nvSpPr>
            <p:cNvPr name="Freeform 8" id="8"/>
            <p:cNvSpPr/>
            <p:nvPr/>
          </p:nvSpPr>
          <p:spPr>
            <a:xfrm flipH="false" flipV="false" rot="0">
              <a:off x="0" y="0"/>
              <a:ext cx="1358155" cy="218925"/>
            </a:xfrm>
            <a:custGeom>
              <a:avLst/>
              <a:gdLst/>
              <a:ahLst/>
              <a:cxnLst/>
              <a:rect r="r" b="b" t="t" l="l"/>
              <a:pathLst>
                <a:path h="218925" w="1358155">
                  <a:moveTo>
                    <a:pt x="109463" y="0"/>
                  </a:moveTo>
                  <a:lnTo>
                    <a:pt x="1248693" y="0"/>
                  </a:lnTo>
                  <a:cubicBezTo>
                    <a:pt x="1309147" y="0"/>
                    <a:pt x="1358155" y="49008"/>
                    <a:pt x="1358155" y="109463"/>
                  </a:cubicBezTo>
                  <a:lnTo>
                    <a:pt x="1358155" y="109463"/>
                  </a:lnTo>
                  <a:cubicBezTo>
                    <a:pt x="1358155" y="138494"/>
                    <a:pt x="1346623" y="166336"/>
                    <a:pt x="1326095" y="186864"/>
                  </a:cubicBezTo>
                  <a:cubicBezTo>
                    <a:pt x="1305566" y="207393"/>
                    <a:pt x="1277724" y="218925"/>
                    <a:pt x="1248693" y="218925"/>
                  </a:cubicBezTo>
                  <a:lnTo>
                    <a:pt x="109463" y="218925"/>
                  </a:lnTo>
                  <a:cubicBezTo>
                    <a:pt x="80431" y="218925"/>
                    <a:pt x="52589" y="207393"/>
                    <a:pt x="32061" y="186864"/>
                  </a:cubicBezTo>
                  <a:cubicBezTo>
                    <a:pt x="11533" y="166336"/>
                    <a:pt x="0" y="138494"/>
                    <a:pt x="0" y="109463"/>
                  </a:cubicBezTo>
                  <a:lnTo>
                    <a:pt x="0" y="109463"/>
                  </a:lnTo>
                  <a:cubicBezTo>
                    <a:pt x="0" y="80431"/>
                    <a:pt x="11533" y="52589"/>
                    <a:pt x="32061" y="32061"/>
                  </a:cubicBezTo>
                  <a:cubicBezTo>
                    <a:pt x="52589" y="11533"/>
                    <a:pt x="80431" y="0"/>
                    <a:pt x="109463" y="0"/>
                  </a:cubicBezTo>
                  <a:close/>
                </a:path>
              </a:pathLst>
            </a:custGeom>
            <a:solidFill>
              <a:srgbClr val="E8B9AB"/>
            </a:solidFill>
            <a:ln cap="rnd">
              <a:noFill/>
              <a:prstDash val="solid"/>
              <a:round/>
            </a:ln>
          </p:spPr>
        </p:sp>
        <p:sp>
          <p:nvSpPr>
            <p:cNvPr name="TextBox 9" id="9"/>
            <p:cNvSpPr txBox="true"/>
            <p:nvPr/>
          </p:nvSpPr>
          <p:spPr>
            <a:xfrm>
              <a:off x="0" y="57150"/>
              <a:ext cx="1358155" cy="161775"/>
            </a:xfrm>
            <a:prstGeom prst="rect">
              <a:avLst/>
            </a:prstGeom>
          </p:spPr>
          <p:txBody>
            <a:bodyPr anchor="ctr" rtlCol="false" tIns="177800" lIns="177800" bIns="177800" rIns="177800"/>
            <a:lstStyle/>
            <a:p>
              <a:pPr algn="ctr" marL="0" indent="0" lvl="0">
                <a:lnSpc>
                  <a:spcPts val="3600"/>
                </a:lnSpc>
              </a:pPr>
            </a:p>
          </p:txBody>
        </p:sp>
      </p:grpSp>
      <p:sp>
        <p:nvSpPr>
          <p:cNvPr name="Freeform 10" id="10"/>
          <p:cNvSpPr/>
          <p:nvPr/>
        </p:nvSpPr>
        <p:spPr>
          <a:xfrm flipH="false" flipV="false" rot="2820782">
            <a:off x="11727768" y="1159151"/>
            <a:ext cx="408095" cy="397495"/>
          </a:xfrm>
          <a:custGeom>
            <a:avLst/>
            <a:gdLst/>
            <a:ahLst/>
            <a:cxnLst/>
            <a:rect r="r" b="b" t="t" l="l"/>
            <a:pathLst>
              <a:path h="397495" w="408095">
                <a:moveTo>
                  <a:pt x="0" y="0"/>
                </a:moveTo>
                <a:lnTo>
                  <a:pt x="408095" y="0"/>
                </a:lnTo>
                <a:lnTo>
                  <a:pt x="408095" y="397496"/>
                </a:lnTo>
                <a:lnTo>
                  <a:pt x="0" y="397496"/>
                </a:lnTo>
                <a:lnTo>
                  <a:pt x="0" y="0"/>
                </a:lnTo>
                <a:close/>
              </a:path>
            </a:pathLst>
          </a:custGeom>
          <a:blipFill>
            <a:blip r:embed="rId11"/>
            <a:stretch>
              <a:fillRect l="0" t="0" r="0" b="0"/>
            </a:stretch>
          </a:blipFill>
        </p:spPr>
      </p:sp>
      <p:sp>
        <p:nvSpPr>
          <p:cNvPr name="Freeform 11" id="11"/>
          <p:cNvSpPr/>
          <p:nvPr/>
        </p:nvSpPr>
        <p:spPr>
          <a:xfrm flipH="false" flipV="false" rot="2117134">
            <a:off x="3746279" y="4322398"/>
            <a:ext cx="200216" cy="195016"/>
          </a:xfrm>
          <a:custGeom>
            <a:avLst/>
            <a:gdLst/>
            <a:ahLst/>
            <a:cxnLst/>
            <a:rect r="r" b="b" t="t" l="l"/>
            <a:pathLst>
              <a:path h="195016" w="200216">
                <a:moveTo>
                  <a:pt x="0" y="0"/>
                </a:moveTo>
                <a:lnTo>
                  <a:pt x="200216" y="0"/>
                </a:lnTo>
                <a:lnTo>
                  <a:pt x="200216" y="195015"/>
                </a:lnTo>
                <a:lnTo>
                  <a:pt x="0" y="195015"/>
                </a:lnTo>
                <a:lnTo>
                  <a:pt x="0" y="0"/>
                </a:lnTo>
                <a:close/>
              </a:path>
            </a:pathLst>
          </a:custGeom>
          <a:blipFill>
            <a:blip r:embed="rId12"/>
            <a:stretch>
              <a:fillRect l="0" t="0" r="0" b="0"/>
            </a:stretch>
          </a:blipFill>
        </p:spPr>
      </p:sp>
      <p:sp>
        <p:nvSpPr>
          <p:cNvPr name="Freeform 12" id="12"/>
          <p:cNvSpPr/>
          <p:nvPr/>
        </p:nvSpPr>
        <p:spPr>
          <a:xfrm flipH="false" flipV="false" rot="2117134">
            <a:off x="9232796" y="5099359"/>
            <a:ext cx="200216" cy="195016"/>
          </a:xfrm>
          <a:custGeom>
            <a:avLst/>
            <a:gdLst/>
            <a:ahLst/>
            <a:cxnLst/>
            <a:rect r="r" b="b" t="t" l="l"/>
            <a:pathLst>
              <a:path h="195016" w="200216">
                <a:moveTo>
                  <a:pt x="0" y="0"/>
                </a:moveTo>
                <a:lnTo>
                  <a:pt x="200216" y="0"/>
                </a:lnTo>
                <a:lnTo>
                  <a:pt x="200216" y="195016"/>
                </a:lnTo>
                <a:lnTo>
                  <a:pt x="0" y="195016"/>
                </a:lnTo>
                <a:lnTo>
                  <a:pt x="0" y="0"/>
                </a:lnTo>
                <a:close/>
              </a:path>
            </a:pathLst>
          </a:custGeom>
          <a:blipFill>
            <a:blip r:embed="rId12"/>
            <a:stretch>
              <a:fillRect l="0" t="0" r="0" b="0"/>
            </a:stretch>
          </a:blipFill>
        </p:spPr>
      </p:sp>
      <p:sp>
        <p:nvSpPr>
          <p:cNvPr name="Freeform 13" id="13"/>
          <p:cNvSpPr/>
          <p:nvPr/>
        </p:nvSpPr>
        <p:spPr>
          <a:xfrm flipH="false" flipV="false" rot="2117134">
            <a:off x="12088277" y="5868188"/>
            <a:ext cx="200216" cy="195016"/>
          </a:xfrm>
          <a:custGeom>
            <a:avLst/>
            <a:gdLst/>
            <a:ahLst/>
            <a:cxnLst/>
            <a:rect r="r" b="b" t="t" l="l"/>
            <a:pathLst>
              <a:path h="195016" w="200216">
                <a:moveTo>
                  <a:pt x="0" y="0"/>
                </a:moveTo>
                <a:lnTo>
                  <a:pt x="200216" y="0"/>
                </a:lnTo>
                <a:lnTo>
                  <a:pt x="200216" y="195016"/>
                </a:lnTo>
                <a:lnTo>
                  <a:pt x="0" y="195016"/>
                </a:lnTo>
                <a:lnTo>
                  <a:pt x="0" y="0"/>
                </a:lnTo>
                <a:close/>
              </a:path>
            </a:pathLst>
          </a:custGeom>
          <a:blipFill>
            <a:blip r:embed="rId12"/>
            <a:stretch>
              <a:fillRect l="0" t="0" r="0" b="0"/>
            </a:stretch>
          </a:blipFill>
        </p:spPr>
      </p:sp>
      <p:sp>
        <p:nvSpPr>
          <p:cNvPr name="Freeform 14" id="14"/>
          <p:cNvSpPr/>
          <p:nvPr/>
        </p:nvSpPr>
        <p:spPr>
          <a:xfrm flipH="false" flipV="false" rot="2117134">
            <a:off x="12487488" y="5896130"/>
            <a:ext cx="200216" cy="195016"/>
          </a:xfrm>
          <a:custGeom>
            <a:avLst/>
            <a:gdLst/>
            <a:ahLst/>
            <a:cxnLst/>
            <a:rect r="r" b="b" t="t" l="l"/>
            <a:pathLst>
              <a:path h="195016" w="200216">
                <a:moveTo>
                  <a:pt x="0" y="0"/>
                </a:moveTo>
                <a:lnTo>
                  <a:pt x="200216" y="0"/>
                </a:lnTo>
                <a:lnTo>
                  <a:pt x="200216" y="195016"/>
                </a:lnTo>
                <a:lnTo>
                  <a:pt x="0" y="195016"/>
                </a:lnTo>
                <a:lnTo>
                  <a:pt x="0" y="0"/>
                </a:lnTo>
                <a:close/>
              </a:path>
            </a:pathLst>
          </a:custGeom>
          <a:blipFill>
            <a:blip r:embed="rId12"/>
            <a:stretch>
              <a:fillRect l="0" t="0" r="0" b="0"/>
            </a:stretch>
          </a:blipFill>
        </p:spPr>
      </p:sp>
      <p:sp>
        <p:nvSpPr>
          <p:cNvPr name="TextBox 15" id="15"/>
          <p:cNvSpPr txBox="true"/>
          <p:nvPr/>
        </p:nvSpPr>
        <p:spPr>
          <a:xfrm rot="0">
            <a:off x="2984383" y="4211545"/>
            <a:ext cx="12319235" cy="3134541"/>
          </a:xfrm>
          <a:prstGeom prst="rect">
            <a:avLst/>
          </a:prstGeom>
        </p:spPr>
        <p:txBody>
          <a:bodyPr anchor="t" rtlCol="false" tIns="0" lIns="0" bIns="0" rIns="0">
            <a:spAutoFit/>
          </a:bodyPr>
          <a:lstStyle/>
          <a:p>
            <a:pPr algn="ctr" marL="0" indent="0" lvl="0">
              <a:lnSpc>
                <a:spcPts val="6105"/>
              </a:lnSpc>
            </a:pPr>
            <a:r>
              <a:rPr lang="en-US" b="true" sz="6105">
                <a:solidFill>
                  <a:srgbClr val="424F9D"/>
                </a:solidFill>
                <a:latin typeface="Gliker Semi-Bold"/>
                <a:ea typeface="Gliker Semi-Bold"/>
                <a:cs typeface="Gliker Semi-Bold"/>
                <a:sym typeface="Gliker Semi-Bold"/>
              </a:rPr>
              <a:t>Ứng dụng Generative AI phục chế ảnh lịch su Việt Nam đen trắng sang màu qua tuong tác văn bản</a:t>
            </a:r>
          </a:p>
        </p:txBody>
      </p:sp>
      <p:sp>
        <p:nvSpPr>
          <p:cNvPr name="Freeform 16" id="16"/>
          <p:cNvSpPr/>
          <p:nvPr/>
        </p:nvSpPr>
        <p:spPr>
          <a:xfrm flipH="false" flipV="false" rot="0">
            <a:off x="15018818" y="6131060"/>
            <a:ext cx="3269182" cy="3938774"/>
          </a:xfrm>
          <a:custGeom>
            <a:avLst/>
            <a:gdLst/>
            <a:ahLst/>
            <a:cxnLst/>
            <a:rect r="r" b="b" t="t" l="l"/>
            <a:pathLst>
              <a:path h="3938774" w="3269182">
                <a:moveTo>
                  <a:pt x="0" y="0"/>
                </a:moveTo>
                <a:lnTo>
                  <a:pt x="3269182" y="0"/>
                </a:lnTo>
                <a:lnTo>
                  <a:pt x="3269182" y="3938774"/>
                </a:lnTo>
                <a:lnTo>
                  <a:pt x="0" y="393877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7" id="17"/>
          <p:cNvSpPr txBox="true"/>
          <p:nvPr/>
        </p:nvSpPr>
        <p:spPr>
          <a:xfrm rot="0">
            <a:off x="4128991" y="1200150"/>
            <a:ext cx="8970896" cy="1202732"/>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Semi-Bold"/>
                <a:ea typeface="Gliker Semi-Bold"/>
                <a:cs typeface="Gliker Semi-Bold"/>
                <a:sym typeface="Gliker Semi-Bold"/>
              </a:rPr>
              <a:t>HỒI SINH KÍ ÚC</a:t>
            </a:r>
          </a:p>
        </p:txBody>
      </p:sp>
      <p:sp>
        <p:nvSpPr>
          <p:cNvPr name="Freeform 18" id="18"/>
          <p:cNvSpPr/>
          <p:nvPr/>
        </p:nvSpPr>
        <p:spPr>
          <a:xfrm flipH="false" flipV="false" rot="0">
            <a:off x="8984577" y="4963801"/>
            <a:ext cx="210285" cy="204823"/>
          </a:xfrm>
          <a:custGeom>
            <a:avLst/>
            <a:gdLst/>
            <a:ahLst/>
            <a:cxnLst/>
            <a:rect r="r" b="b" t="t" l="l"/>
            <a:pathLst>
              <a:path h="204823" w="210285">
                <a:moveTo>
                  <a:pt x="0" y="0"/>
                </a:moveTo>
                <a:lnTo>
                  <a:pt x="210285" y="0"/>
                </a:lnTo>
                <a:lnTo>
                  <a:pt x="210285" y="204823"/>
                </a:lnTo>
                <a:lnTo>
                  <a:pt x="0" y="204823"/>
                </a:lnTo>
                <a:lnTo>
                  <a:pt x="0" y="0"/>
                </a:lnTo>
                <a:close/>
              </a:path>
            </a:pathLst>
          </a:custGeom>
          <a:blipFill>
            <a:blip r:embed="rId1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BF9"/>
        </a:solidFill>
      </p:bgPr>
    </p:bg>
    <p:spTree>
      <p:nvGrpSpPr>
        <p:cNvPr id="1" name=""/>
        <p:cNvGrpSpPr/>
        <p:nvPr/>
      </p:nvGrpSpPr>
      <p:grpSpPr>
        <a:xfrm>
          <a:off x="0" y="0"/>
          <a:ext cx="0" cy="0"/>
          <a:chOff x="0" y="0"/>
          <a:chExt cx="0" cy="0"/>
        </a:xfrm>
      </p:grpSpPr>
      <p:sp>
        <p:nvSpPr>
          <p:cNvPr name="Freeform 2" id="2"/>
          <p:cNvSpPr/>
          <p:nvPr/>
        </p:nvSpPr>
        <p:spPr>
          <a:xfrm flipH="true" flipV="false" rot="-3016826">
            <a:off x="-2012018" y="6126988"/>
            <a:ext cx="4621853" cy="4354171"/>
          </a:xfrm>
          <a:custGeom>
            <a:avLst/>
            <a:gdLst/>
            <a:ahLst/>
            <a:cxnLst/>
            <a:rect r="r" b="b" t="t" l="l"/>
            <a:pathLst>
              <a:path h="4354171" w="4621853">
                <a:moveTo>
                  <a:pt x="4621854" y="0"/>
                </a:moveTo>
                <a:lnTo>
                  <a:pt x="0" y="0"/>
                </a:lnTo>
                <a:lnTo>
                  <a:pt x="0" y="4354171"/>
                </a:lnTo>
                <a:lnTo>
                  <a:pt x="4621854" y="4354171"/>
                </a:lnTo>
                <a:lnTo>
                  <a:pt x="462185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3768278">
            <a:off x="803221" y="4183917"/>
            <a:ext cx="2182442" cy="2248974"/>
          </a:xfrm>
          <a:custGeom>
            <a:avLst/>
            <a:gdLst/>
            <a:ahLst/>
            <a:cxnLst/>
            <a:rect r="r" b="b" t="t" l="l"/>
            <a:pathLst>
              <a:path h="2248974" w="2182442">
                <a:moveTo>
                  <a:pt x="0" y="2248974"/>
                </a:moveTo>
                <a:lnTo>
                  <a:pt x="2182442" y="2248974"/>
                </a:lnTo>
                <a:lnTo>
                  <a:pt x="2182442" y="0"/>
                </a:lnTo>
                <a:lnTo>
                  <a:pt x="0" y="0"/>
                </a:lnTo>
                <a:lnTo>
                  <a:pt x="0" y="224897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07250">
            <a:off x="-798543" y="3626623"/>
            <a:ext cx="2388181" cy="2397686"/>
          </a:xfrm>
          <a:custGeom>
            <a:avLst/>
            <a:gdLst/>
            <a:ahLst/>
            <a:cxnLst/>
            <a:rect r="r" b="b" t="t" l="l"/>
            <a:pathLst>
              <a:path h="2397686" w="2388181">
                <a:moveTo>
                  <a:pt x="0" y="0"/>
                </a:moveTo>
                <a:lnTo>
                  <a:pt x="2388181" y="0"/>
                </a:lnTo>
                <a:lnTo>
                  <a:pt x="2388181" y="2397686"/>
                </a:lnTo>
                <a:lnTo>
                  <a:pt x="0" y="2397686"/>
                </a:lnTo>
                <a:lnTo>
                  <a:pt x="0" y="0"/>
                </a:lnTo>
                <a:close/>
              </a:path>
            </a:pathLst>
          </a:custGeom>
          <a:blipFill>
            <a:blip r:embed="rId6">
              <a:extLst>
                <a:ext uri="{96DAC541-7B7A-43D3-8B79-37D633B846F1}">
                  <asvg:svgBlip xmlns:asvg="http://schemas.microsoft.com/office/drawing/2016/SVG/main" r:embed="rId7"/>
                </a:ext>
              </a:extLst>
            </a:blip>
            <a:stretch>
              <a:fillRect l="0" t="-2382" r="0" b="-23300"/>
            </a:stretch>
          </a:blipFill>
        </p:spPr>
      </p:sp>
      <p:sp>
        <p:nvSpPr>
          <p:cNvPr name="Freeform 5" id="5"/>
          <p:cNvSpPr/>
          <p:nvPr/>
        </p:nvSpPr>
        <p:spPr>
          <a:xfrm flipH="false" flipV="false" rot="10188308">
            <a:off x="1133288" y="1665032"/>
            <a:ext cx="1993349" cy="2158862"/>
          </a:xfrm>
          <a:custGeom>
            <a:avLst/>
            <a:gdLst/>
            <a:ahLst/>
            <a:cxnLst/>
            <a:rect r="r" b="b" t="t" l="l"/>
            <a:pathLst>
              <a:path h="2158862" w="1993349">
                <a:moveTo>
                  <a:pt x="0" y="0"/>
                </a:moveTo>
                <a:lnTo>
                  <a:pt x="1993349" y="0"/>
                </a:lnTo>
                <a:lnTo>
                  <a:pt x="1993349" y="2158862"/>
                </a:lnTo>
                <a:lnTo>
                  <a:pt x="0" y="21588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33041">
            <a:off x="-1393050" y="1445847"/>
            <a:ext cx="2365166" cy="2378048"/>
          </a:xfrm>
          <a:custGeom>
            <a:avLst/>
            <a:gdLst/>
            <a:ahLst/>
            <a:cxnLst/>
            <a:rect r="r" b="b" t="t" l="l"/>
            <a:pathLst>
              <a:path h="2378048" w="2365166">
                <a:moveTo>
                  <a:pt x="0" y="0"/>
                </a:moveTo>
                <a:lnTo>
                  <a:pt x="2365167" y="0"/>
                </a:lnTo>
                <a:lnTo>
                  <a:pt x="2365167" y="2378047"/>
                </a:lnTo>
                <a:lnTo>
                  <a:pt x="0" y="23780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2044238" y="8700517"/>
            <a:ext cx="1624452" cy="1290763"/>
          </a:xfrm>
          <a:custGeom>
            <a:avLst/>
            <a:gdLst/>
            <a:ahLst/>
            <a:cxnLst/>
            <a:rect r="r" b="b" t="t" l="l"/>
            <a:pathLst>
              <a:path h="1290763" w="1624452">
                <a:moveTo>
                  <a:pt x="0" y="0"/>
                </a:moveTo>
                <a:lnTo>
                  <a:pt x="1624452" y="0"/>
                </a:lnTo>
                <a:lnTo>
                  <a:pt x="1624452" y="1290763"/>
                </a:lnTo>
                <a:lnTo>
                  <a:pt x="0" y="129076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true" rot="-1941356">
            <a:off x="-3159559" y="-1803669"/>
            <a:ext cx="4544869" cy="3221176"/>
          </a:xfrm>
          <a:custGeom>
            <a:avLst/>
            <a:gdLst/>
            <a:ahLst/>
            <a:cxnLst/>
            <a:rect r="r" b="b" t="t" l="l"/>
            <a:pathLst>
              <a:path h="3221176" w="4544869">
                <a:moveTo>
                  <a:pt x="0" y="3221176"/>
                </a:moveTo>
                <a:lnTo>
                  <a:pt x="4544870" y="3221176"/>
                </a:lnTo>
                <a:lnTo>
                  <a:pt x="4544870" y="0"/>
                </a:lnTo>
                <a:lnTo>
                  <a:pt x="0" y="0"/>
                </a:lnTo>
                <a:lnTo>
                  <a:pt x="0" y="3221176"/>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4638250" y="3983259"/>
            <a:ext cx="11301259" cy="3206732"/>
          </a:xfrm>
          <a:custGeom>
            <a:avLst/>
            <a:gdLst/>
            <a:ahLst/>
            <a:cxnLst/>
            <a:rect r="r" b="b" t="t" l="l"/>
            <a:pathLst>
              <a:path h="3206732" w="11301259">
                <a:moveTo>
                  <a:pt x="0" y="0"/>
                </a:moveTo>
                <a:lnTo>
                  <a:pt x="11301259" y="0"/>
                </a:lnTo>
                <a:lnTo>
                  <a:pt x="11301259" y="3206733"/>
                </a:lnTo>
                <a:lnTo>
                  <a:pt x="0" y="3206733"/>
                </a:lnTo>
                <a:lnTo>
                  <a:pt x="0" y="0"/>
                </a:lnTo>
                <a:close/>
              </a:path>
            </a:pathLst>
          </a:custGeom>
          <a:blipFill>
            <a:blip r:embed="rId16"/>
            <a:stretch>
              <a:fillRect l="0" t="0" r="0" b="0"/>
            </a:stretch>
          </a:blipFill>
        </p:spPr>
      </p:sp>
      <p:sp>
        <p:nvSpPr>
          <p:cNvPr name="Freeform 10" id="10"/>
          <p:cNvSpPr/>
          <p:nvPr/>
        </p:nvSpPr>
        <p:spPr>
          <a:xfrm flipH="false" flipV="false" rot="0">
            <a:off x="11183015" y="459084"/>
            <a:ext cx="399724" cy="295585"/>
          </a:xfrm>
          <a:custGeom>
            <a:avLst/>
            <a:gdLst/>
            <a:ahLst/>
            <a:cxnLst/>
            <a:rect r="r" b="b" t="t" l="l"/>
            <a:pathLst>
              <a:path h="295585" w="399724">
                <a:moveTo>
                  <a:pt x="0" y="0"/>
                </a:moveTo>
                <a:lnTo>
                  <a:pt x="399725" y="0"/>
                </a:lnTo>
                <a:lnTo>
                  <a:pt x="399725" y="295585"/>
                </a:lnTo>
                <a:lnTo>
                  <a:pt x="0" y="295585"/>
                </a:lnTo>
                <a:lnTo>
                  <a:pt x="0" y="0"/>
                </a:lnTo>
                <a:close/>
              </a:path>
            </a:pathLst>
          </a:custGeom>
          <a:blipFill>
            <a:blip r:embed="rId17"/>
            <a:stretch>
              <a:fillRect l="0" t="-15859" r="0" b="-15859"/>
            </a:stretch>
          </a:blipFill>
        </p:spPr>
      </p:sp>
      <p:sp>
        <p:nvSpPr>
          <p:cNvPr name="TextBox 11" id="11"/>
          <p:cNvSpPr txBox="true"/>
          <p:nvPr/>
        </p:nvSpPr>
        <p:spPr>
          <a:xfrm rot="0">
            <a:off x="5335842" y="500119"/>
            <a:ext cx="12848810" cy="1202732"/>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Semi-Bold"/>
                <a:ea typeface="Gliker Semi-Bold"/>
                <a:cs typeface="Gliker Semi-Bold"/>
                <a:sym typeface="Gliker Semi-Bold"/>
              </a:rPr>
              <a:t>Vấn đề cua bài toán</a:t>
            </a:r>
          </a:p>
        </p:txBody>
      </p:sp>
      <p:sp>
        <p:nvSpPr>
          <p:cNvPr name="TextBox 12" id="12"/>
          <p:cNvSpPr txBox="true"/>
          <p:nvPr/>
        </p:nvSpPr>
        <p:spPr>
          <a:xfrm rot="0">
            <a:off x="4638250" y="2161078"/>
            <a:ext cx="11973158" cy="1335380"/>
          </a:xfrm>
          <a:prstGeom prst="rect">
            <a:avLst/>
          </a:prstGeom>
        </p:spPr>
        <p:txBody>
          <a:bodyPr anchor="t" rtlCol="false" tIns="0" lIns="0" bIns="0" rIns="0">
            <a:spAutoFit/>
          </a:bodyPr>
          <a:lstStyle/>
          <a:p>
            <a:pPr algn="just">
              <a:lnSpc>
                <a:spcPts val="5254"/>
              </a:lnSpc>
              <a:spcBef>
                <a:spcPct val="0"/>
              </a:spcBef>
            </a:pPr>
            <a:r>
              <a:rPr lang="en-US" sz="4203" spc="-21">
                <a:solidFill>
                  <a:srgbClr val="4A201C"/>
                </a:solidFill>
                <a:latin typeface="Public Sans"/>
                <a:ea typeface="Public Sans"/>
                <a:cs typeface="Public Sans"/>
                <a:sym typeface="Public Sans"/>
              </a:rPr>
              <a:t>Các mô hình tự động khôi phục ảnh truyền thống chỉ khôi phục màu dựa trên việc đoán xác suất </a:t>
            </a:r>
          </a:p>
        </p:txBody>
      </p:sp>
      <p:sp>
        <p:nvSpPr>
          <p:cNvPr name="TextBox 13" id="13"/>
          <p:cNvSpPr txBox="true"/>
          <p:nvPr/>
        </p:nvSpPr>
        <p:spPr>
          <a:xfrm rot="0">
            <a:off x="4638250" y="7616115"/>
            <a:ext cx="12621050" cy="2002130"/>
          </a:xfrm>
          <a:prstGeom prst="rect">
            <a:avLst/>
          </a:prstGeom>
        </p:spPr>
        <p:txBody>
          <a:bodyPr anchor="t" rtlCol="false" tIns="0" lIns="0" bIns="0" rIns="0">
            <a:spAutoFit/>
          </a:bodyPr>
          <a:lstStyle/>
          <a:p>
            <a:pPr algn="just">
              <a:lnSpc>
                <a:spcPts val="5254"/>
              </a:lnSpc>
              <a:spcBef>
                <a:spcPct val="0"/>
              </a:spcBef>
            </a:pPr>
            <a:r>
              <a:rPr lang="en-US" sz="4203" spc="-21">
                <a:solidFill>
                  <a:srgbClr val="4A201C"/>
                </a:solidFill>
                <a:latin typeface="Public Sans"/>
                <a:ea typeface="Public Sans"/>
                <a:cs typeface="Public Sans"/>
                <a:sym typeface="Public Sans"/>
              </a:rPr>
              <a:t>→ Cần một giải pháp chuyển đổi sang ảnh màu để hình ảnh sống động hơn, gần gũi hơn. Mô hình cho phép người dùng ra lệnh màu sắc cho từng vật thể</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BF9"/>
        </a:solidFill>
      </p:bgPr>
    </p:bg>
    <p:spTree>
      <p:nvGrpSpPr>
        <p:cNvPr id="1" name=""/>
        <p:cNvGrpSpPr/>
        <p:nvPr/>
      </p:nvGrpSpPr>
      <p:grpSpPr>
        <a:xfrm>
          <a:off x="0" y="0"/>
          <a:ext cx="0" cy="0"/>
          <a:chOff x="0" y="0"/>
          <a:chExt cx="0" cy="0"/>
        </a:xfrm>
      </p:grpSpPr>
      <p:sp>
        <p:nvSpPr>
          <p:cNvPr name="Freeform 2" id="2"/>
          <p:cNvSpPr/>
          <p:nvPr/>
        </p:nvSpPr>
        <p:spPr>
          <a:xfrm flipH="false" flipV="false" rot="2324642">
            <a:off x="16136020" y="-2056218"/>
            <a:ext cx="4303961" cy="4479404"/>
          </a:xfrm>
          <a:custGeom>
            <a:avLst/>
            <a:gdLst/>
            <a:ahLst/>
            <a:cxnLst/>
            <a:rect r="r" b="b" t="t" l="l"/>
            <a:pathLst>
              <a:path h="4479404" w="4303961">
                <a:moveTo>
                  <a:pt x="0" y="0"/>
                </a:moveTo>
                <a:lnTo>
                  <a:pt x="4303960" y="0"/>
                </a:lnTo>
                <a:lnTo>
                  <a:pt x="4303960" y="4479404"/>
                </a:lnTo>
                <a:lnTo>
                  <a:pt x="0" y="4479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897796" y="1228317"/>
            <a:ext cx="2212551" cy="2396264"/>
          </a:xfrm>
          <a:custGeom>
            <a:avLst/>
            <a:gdLst/>
            <a:ahLst/>
            <a:cxnLst/>
            <a:rect r="r" b="b" t="t" l="l"/>
            <a:pathLst>
              <a:path h="2396264" w="2212551">
                <a:moveTo>
                  <a:pt x="0" y="0"/>
                </a:moveTo>
                <a:lnTo>
                  <a:pt x="2212551" y="0"/>
                </a:lnTo>
                <a:lnTo>
                  <a:pt x="2212551" y="2396264"/>
                </a:lnTo>
                <a:lnTo>
                  <a:pt x="0" y="23962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1118016">
            <a:off x="12598378" y="17532"/>
            <a:ext cx="2627376" cy="2926080"/>
          </a:xfrm>
          <a:custGeom>
            <a:avLst/>
            <a:gdLst/>
            <a:ahLst/>
            <a:cxnLst/>
            <a:rect r="r" b="b" t="t" l="l"/>
            <a:pathLst>
              <a:path h="2926080" w="2627376">
                <a:moveTo>
                  <a:pt x="2627376" y="0"/>
                </a:moveTo>
                <a:lnTo>
                  <a:pt x="0" y="0"/>
                </a:lnTo>
                <a:lnTo>
                  <a:pt x="0" y="2926080"/>
                </a:lnTo>
                <a:lnTo>
                  <a:pt x="2627376" y="2926080"/>
                </a:lnTo>
                <a:lnTo>
                  <a:pt x="262737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5807842" y="2893981"/>
            <a:ext cx="2902915" cy="2926080"/>
          </a:xfrm>
          <a:custGeom>
            <a:avLst/>
            <a:gdLst/>
            <a:ahLst/>
            <a:cxnLst/>
            <a:rect r="r" b="b" t="t" l="l"/>
            <a:pathLst>
              <a:path h="2926080" w="2902915">
                <a:moveTo>
                  <a:pt x="2902916" y="0"/>
                </a:moveTo>
                <a:lnTo>
                  <a:pt x="0" y="0"/>
                </a:lnTo>
                <a:lnTo>
                  <a:pt x="0" y="2926080"/>
                </a:lnTo>
                <a:lnTo>
                  <a:pt x="2902916" y="2926080"/>
                </a:lnTo>
                <a:lnTo>
                  <a:pt x="290291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603218">
            <a:off x="10621193" y="-479946"/>
            <a:ext cx="2090950" cy="2286233"/>
          </a:xfrm>
          <a:custGeom>
            <a:avLst/>
            <a:gdLst/>
            <a:ahLst/>
            <a:cxnLst/>
            <a:rect r="r" b="b" t="t" l="l"/>
            <a:pathLst>
              <a:path h="2286233" w="2090950">
                <a:moveTo>
                  <a:pt x="0" y="0"/>
                </a:moveTo>
                <a:lnTo>
                  <a:pt x="2090950" y="0"/>
                </a:lnTo>
                <a:lnTo>
                  <a:pt x="2090950" y="2286232"/>
                </a:lnTo>
                <a:lnTo>
                  <a:pt x="0" y="228623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262937" y="5483835"/>
            <a:ext cx="4517807" cy="5026768"/>
          </a:xfrm>
          <a:custGeom>
            <a:avLst/>
            <a:gdLst/>
            <a:ahLst/>
            <a:cxnLst/>
            <a:rect r="r" b="b" t="t" l="l"/>
            <a:pathLst>
              <a:path h="5026768" w="4517807">
                <a:moveTo>
                  <a:pt x="4517807" y="0"/>
                </a:moveTo>
                <a:lnTo>
                  <a:pt x="0" y="0"/>
                </a:lnTo>
                <a:lnTo>
                  <a:pt x="0" y="5026768"/>
                </a:lnTo>
                <a:lnTo>
                  <a:pt x="4517807" y="5026768"/>
                </a:lnTo>
                <a:lnTo>
                  <a:pt x="451780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2265688">
            <a:off x="3319432" y="1378254"/>
            <a:ext cx="361773" cy="352377"/>
          </a:xfrm>
          <a:custGeom>
            <a:avLst/>
            <a:gdLst/>
            <a:ahLst/>
            <a:cxnLst/>
            <a:rect r="r" b="b" t="t" l="l"/>
            <a:pathLst>
              <a:path h="352377" w="361773">
                <a:moveTo>
                  <a:pt x="0" y="0"/>
                </a:moveTo>
                <a:lnTo>
                  <a:pt x="361773" y="0"/>
                </a:lnTo>
                <a:lnTo>
                  <a:pt x="361773" y="352377"/>
                </a:lnTo>
                <a:lnTo>
                  <a:pt x="0" y="352377"/>
                </a:lnTo>
                <a:lnTo>
                  <a:pt x="0" y="0"/>
                </a:lnTo>
                <a:close/>
              </a:path>
            </a:pathLst>
          </a:custGeom>
          <a:blipFill>
            <a:blip r:embed="rId14"/>
            <a:stretch>
              <a:fillRect l="0" t="0" r="0" b="0"/>
            </a:stretch>
          </a:blipFill>
        </p:spPr>
      </p:sp>
      <p:sp>
        <p:nvSpPr>
          <p:cNvPr name="Freeform 9" id="9"/>
          <p:cNvSpPr/>
          <p:nvPr/>
        </p:nvSpPr>
        <p:spPr>
          <a:xfrm flipH="false" flipV="false" rot="2637721">
            <a:off x="2750183" y="1368549"/>
            <a:ext cx="304636" cy="296724"/>
          </a:xfrm>
          <a:custGeom>
            <a:avLst/>
            <a:gdLst/>
            <a:ahLst/>
            <a:cxnLst/>
            <a:rect r="r" b="b" t="t" l="l"/>
            <a:pathLst>
              <a:path h="296724" w="304636">
                <a:moveTo>
                  <a:pt x="0" y="0"/>
                </a:moveTo>
                <a:lnTo>
                  <a:pt x="304637" y="0"/>
                </a:lnTo>
                <a:lnTo>
                  <a:pt x="304637" y="296724"/>
                </a:lnTo>
                <a:lnTo>
                  <a:pt x="0" y="296724"/>
                </a:lnTo>
                <a:lnTo>
                  <a:pt x="0" y="0"/>
                </a:lnTo>
                <a:close/>
              </a:path>
            </a:pathLst>
          </a:custGeom>
          <a:blipFill>
            <a:blip r:embed="rId14"/>
            <a:stretch>
              <a:fillRect l="0" t="0" r="0" b="0"/>
            </a:stretch>
          </a:blipFill>
        </p:spPr>
      </p:sp>
      <p:sp>
        <p:nvSpPr>
          <p:cNvPr name="TextBox 10" id="10"/>
          <p:cNvSpPr txBox="true"/>
          <p:nvPr/>
        </p:nvSpPr>
        <p:spPr>
          <a:xfrm rot="0">
            <a:off x="237209" y="1200150"/>
            <a:ext cx="11045979" cy="1197018"/>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Semi-Bold"/>
                <a:ea typeface="Gliker Semi-Bold"/>
                <a:cs typeface="Gliker Semi-Bold"/>
                <a:sym typeface="Gliker Semi-Bold"/>
              </a:rPr>
              <a:t>Ý tuong giai pháp </a:t>
            </a:r>
          </a:p>
        </p:txBody>
      </p:sp>
      <p:sp>
        <p:nvSpPr>
          <p:cNvPr name="Freeform 11" id="11"/>
          <p:cNvSpPr/>
          <p:nvPr/>
        </p:nvSpPr>
        <p:spPr>
          <a:xfrm flipH="false" flipV="false" rot="0">
            <a:off x="6627037" y="1128195"/>
            <a:ext cx="361773" cy="352377"/>
          </a:xfrm>
          <a:custGeom>
            <a:avLst/>
            <a:gdLst/>
            <a:ahLst/>
            <a:cxnLst/>
            <a:rect r="r" b="b" t="t" l="l"/>
            <a:pathLst>
              <a:path h="352377" w="361773">
                <a:moveTo>
                  <a:pt x="0" y="0"/>
                </a:moveTo>
                <a:lnTo>
                  <a:pt x="361773" y="0"/>
                </a:lnTo>
                <a:lnTo>
                  <a:pt x="361773" y="352377"/>
                </a:lnTo>
                <a:lnTo>
                  <a:pt x="0" y="352377"/>
                </a:lnTo>
                <a:lnTo>
                  <a:pt x="0" y="0"/>
                </a:lnTo>
                <a:close/>
              </a:path>
            </a:pathLst>
          </a:custGeom>
          <a:blipFill>
            <a:blip r:embed="rId14"/>
            <a:stretch>
              <a:fillRect l="0" t="0" r="0" b="0"/>
            </a:stretch>
          </a:blipFill>
        </p:spPr>
      </p:sp>
      <p:sp>
        <p:nvSpPr>
          <p:cNvPr name="Freeform 12" id="12"/>
          <p:cNvSpPr/>
          <p:nvPr/>
        </p:nvSpPr>
        <p:spPr>
          <a:xfrm flipH="false" flipV="false" rot="0">
            <a:off x="3068535" y="1128195"/>
            <a:ext cx="361773" cy="352377"/>
          </a:xfrm>
          <a:custGeom>
            <a:avLst/>
            <a:gdLst/>
            <a:ahLst/>
            <a:cxnLst/>
            <a:rect r="r" b="b" t="t" l="l"/>
            <a:pathLst>
              <a:path h="352377" w="361773">
                <a:moveTo>
                  <a:pt x="0" y="0"/>
                </a:moveTo>
                <a:lnTo>
                  <a:pt x="361774" y="0"/>
                </a:lnTo>
                <a:lnTo>
                  <a:pt x="361774" y="352377"/>
                </a:lnTo>
                <a:lnTo>
                  <a:pt x="0" y="352377"/>
                </a:lnTo>
                <a:lnTo>
                  <a:pt x="0" y="0"/>
                </a:lnTo>
                <a:close/>
              </a:path>
            </a:pathLst>
          </a:custGeom>
          <a:blipFill>
            <a:blip r:embed="rId14"/>
            <a:stretch>
              <a:fillRect l="0" t="0" r="0" b="0"/>
            </a:stretch>
          </a:blipFill>
        </p:spPr>
      </p:sp>
      <p:grpSp>
        <p:nvGrpSpPr>
          <p:cNvPr name="Group 13" id="13"/>
          <p:cNvGrpSpPr/>
          <p:nvPr/>
        </p:nvGrpSpPr>
        <p:grpSpPr>
          <a:xfrm rot="0">
            <a:off x="8580834" y="3624581"/>
            <a:ext cx="2143617" cy="608070"/>
            <a:chOff x="0" y="0"/>
            <a:chExt cx="502088" cy="142425"/>
          </a:xfrm>
        </p:grpSpPr>
        <p:sp>
          <p:nvSpPr>
            <p:cNvPr name="Freeform 14" id="14"/>
            <p:cNvSpPr/>
            <p:nvPr/>
          </p:nvSpPr>
          <p:spPr>
            <a:xfrm flipH="false" flipV="false" rot="0">
              <a:off x="0" y="0"/>
              <a:ext cx="502088" cy="142425"/>
            </a:xfrm>
            <a:custGeom>
              <a:avLst/>
              <a:gdLst/>
              <a:ahLst/>
              <a:cxnLst/>
              <a:rect r="r" b="b" t="t" l="l"/>
              <a:pathLst>
                <a:path h="142425" w="502088">
                  <a:moveTo>
                    <a:pt x="71213" y="0"/>
                  </a:moveTo>
                  <a:lnTo>
                    <a:pt x="430876" y="0"/>
                  </a:lnTo>
                  <a:cubicBezTo>
                    <a:pt x="470205" y="0"/>
                    <a:pt x="502088" y="31883"/>
                    <a:pt x="502088" y="71213"/>
                  </a:cubicBezTo>
                  <a:lnTo>
                    <a:pt x="502088" y="71213"/>
                  </a:lnTo>
                  <a:cubicBezTo>
                    <a:pt x="502088" y="110542"/>
                    <a:pt x="470205" y="142425"/>
                    <a:pt x="430876" y="142425"/>
                  </a:cubicBezTo>
                  <a:lnTo>
                    <a:pt x="71213" y="142425"/>
                  </a:lnTo>
                  <a:cubicBezTo>
                    <a:pt x="31883" y="142425"/>
                    <a:pt x="0" y="110542"/>
                    <a:pt x="0" y="71213"/>
                  </a:cubicBezTo>
                  <a:lnTo>
                    <a:pt x="0" y="71213"/>
                  </a:lnTo>
                  <a:cubicBezTo>
                    <a:pt x="0" y="31883"/>
                    <a:pt x="31883" y="0"/>
                    <a:pt x="71213" y="0"/>
                  </a:cubicBezTo>
                  <a:close/>
                </a:path>
              </a:pathLst>
            </a:custGeom>
            <a:solidFill>
              <a:srgbClr val="FFBF56"/>
            </a:solidFill>
            <a:ln cap="rnd">
              <a:noFill/>
              <a:prstDash val="solid"/>
              <a:round/>
            </a:ln>
          </p:spPr>
        </p:sp>
        <p:sp>
          <p:nvSpPr>
            <p:cNvPr name="TextBox 15" id="15"/>
            <p:cNvSpPr txBox="true"/>
            <p:nvPr/>
          </p:nvSpPr>
          <p:spPr>
            <a:xfrm>
              <a:off x="0" y="57150"/>
              <a:ext cx="502088" cy="85275"/>
            </a:xfrm>
            <a:prstGeom prst="rect">
              <a:avLst/>
            </a:prstGeom>
          </p:spPr>
          <p:txBody>
            <a:bodyPr anchor="ctr" rtlCol="false" tIns="177800" lIns="177800" bIns="177800" rIns="177800"/>
            <a:lstStyle/>
            <a:p>
              <a:pPr algn="ctr" marL="0" indent="0" lvl="0">
                <a:lnSpc>
                  <a:spcPts val="3600"/>
                </a:lnSpc>
              </a:pPr>
            </a:p>
          </p:txBody>
        </p:sp>
      </p:grpSp>
      <p:grpSp>
        <p:nvGrpSpPr>
          <p:cNvPr name="Group 16" id="16"/>
          <p:cNvGrpSpPr/>
          <p:nvPr/>
        </p:nvGrpSpPr>
        <p:grpSpPr>
          <a:xfrm rot="0">
            <a:off x="3500318" y="4232652"/>
            <a:ext cx="2697061" cy="608070"/>
            <a:chOff x="0" y="0"/>
            <a:chExt cx="631719" cy="142425"/>
          </a:xfrm>
        </p:grpSpPr>
        <p:sp>
          <p:nvSpPr>
            <p:cNvPr name="Freeform 17" id="17"/>
            <p:cNvSpPr/>
            <p:nvPr/>
          </p:nvSpPr>
          <p:spPr>
            <a:xfrm flipH="false" flipV="false" rot="0">
              <a:off x="0" y="0"/>
              <a:ext cx="631719" cy="142425"/>
            </a:xfrm>
            <a:custGeom>
              <a:avLst/>
              <a:gdLst/>
              <a:ahLst/>
              <a:cxnLst/>
              <a:rect r="r" b="b" t="t" l="l"/>
              <a:pathLst>
                <a:path h="142425" w="631719">
                  <a:moveTo>
                    <a:pt x="71213" y="0"/>
                  </a:moveTo>
                  <a:lnTo>
                    <a:pt x="560506" y="0"/>
                  </a:lnTo>
                  <a:cubicBezTo>
                    <a:pt x="599836" y="0"/>
                    <a:pt x="631719" y="31883"/>
                    <a:pt x="631719" y="71213"/>
                  </a:cubicBezTo>
                  <a:lnTo>
                    <a:pt x="631719" y="71213"/>
                  </a:lnTo>
                  <a:cubicBezTo>
                    <a:pt x="631719" y="110542"/>
                    <a:pt x="599836" y="142425"/>
                    <a:pt x="560506" y="142425"/>
                  </a:cubicBezTo>
                  <a:lnTo>
                    <a:pt x="71213" y="142425"/>
                  </a:lnTo>
                  <a:cubicBezTo>
                    <a:pt x="31883" y="142425"/>
                    <a:pt x="0" y="110542"/>
                    <a:pt x="0" y="71213"/>
                  </a:cubicBezTo>
                  <a:lnTo>
                    <a:pt x="0" y="71213"/>
                  </a:lnTo>
                  <a:cubicBezTo>
                    <a:pt x="0" y="31883"/>
                    <a:pt x="31883" y="0"/>
                    <a:pt x="71213" y="0"/>
                  </a:cubicBezTo>
                  <a:close/>
                </a:path>
              </a:pathLst>
            </a:custGeom>
            <a:solidFill>
              <a:srgbClr val="FFBF56"/>
            </a:solidFill>
            <a:ln cap="rnd">
              <a:noFill/>
              <a:prstDash val="solid"/>
              <a:round/>
            </a:ln>
          </p:spPr>
        </p:sp>
        <p:sp>
          <p:nvSpPr>
            <p:cNvPr name="TextBox 18" id="18"/>
            <p:cNvSpPr txBox="true"/>
            <p:nvPr/>
          </p:nvSpPr>
          <p:spPr>
            <a:xfrm>
              <a:off x="0" y="57150"/>
              <a:ext cx="631719" cy="85275"/>
            </a:xfrm>
            <a:prstGeom prst="rect">
              <a:avLst/>
            </a:prstGeom>
          </p:spPr>
          <p:txBody>
            <a:bodyPr anchor="ctr" rtlCol="false" tIns="177800" lIns="177800" bIns="177800" rIns="177800"/>
            <a:lstStyle/>
            <a:p>
              <a:pPr algn="ctr" marL="0" indent="0" lvl="0">
                <a:lnSpc>
                  <a:spcPts val="3600"/>
                </a:lnSpc>
              </a:pPr>
            </a:p>
          </p:txBody>
        </p:sp>
      </p:grpSp>
      <p:grpSp>
        <p:nvGrpSpPr>
          <p:cNvPr name="Group 19" id="19"/>
          <p:cNvGrpSpPr/>
          <p:nvPr/>
        </p:nvGrpSpPr>
        <p:grpSpPr>
          <a:xfrm rot="0">
            <a:off x="5215252" y="4816736"/>
            <a:ext cx="3365582" cy="608070"/>
            <a:chOff x="0" y="0"/>
            <a:chExt cx="788303" cy="142425"/>
          </a:xfrm>
        </p:grpSpPr>
        <p:sp>
          <p:nvSpPr>
            <p:cNvPr name="Freeform 20" id="20"/>
            <p:cNvSpPr/>
            <p:nvPr/>
          </p:nvSpPr>
          <p:spPr>
            <a:xfrm flipH="false" flipV="false" rot="0">
              <a:off x="0" y="0"/>
              <a:ext cx="788303" cy="142425"/>
            </a:xfrm>
            <a:custGeom>
              <a:avLst/>
              <a:gdLst/>
              <a:ahLst/>
              <a:cxnLst/>
              <a:rect r="r" b="b" t="t" l="l"/>
              <a:pathLst>
                <a:path h="142425" w="788303">
                  <a:moveTo>
                    <a:pt x="71213" y="0"/>
                  </a:moveTo>
                  <a:lnTo>
                    <a:pt x="717090" y="0"/>
                  </a:lnTo>
                  <a:cubicBezTo>
                    <a:pt x="756420" y="0"/>
                    <a:pt x="788303" y="31883"/>
                    <a:pt x="788303" y="71213"/>
                  </a:cubicBezTo>
                  <a:lnTo>
                    <a:pt x="788303" y="71213"/>
                  </a:lnTo>
                  <a:cubicBezTo>
                    <a:pt x="788303" y="110542"/>
                    <a:pt x="756420" y="142425"/>
                    <a:pt x="717090" y="142425"/>
                  </a:cubicBezTo>
                  <a:lnTo>
                    <a:pt x="71213" y="142425"/>
                  </a:lnTo>
                  <a:cubicBezTo>
                    <a:pt x="31883" y="142425"/>
                    <a:pt x="0" y="110542"/>
                    <a:pt x="0" y="71213"/>
                  </a:cubicBezTo>
                  <a:lnTo>
                    <a:pt x="0" y="71213"/>
                  </a:lnTo>
                  <a:cubicBezTo>
                    <a:pt x="0" y="31883"/>
                    <a:pt x="31883" y="0"/>
                    <a:pt x="71213" y="0"/>
                  </a:cubicBezTo>
                  <a:close/>
                </a:path>
              </a:pathLst>
            </a:custGeom>
            <a:solidFill>
              <a:srgbClr val="FFBF56"/>
            </a:solidFill>
            <a:ln cap="rnd">
              <a:noFill/>
              <a:prstDash val="solid"/>
              <a:round/>
            </a:ln>
          </p:spPr>
        </p:sp>
        <p:sp>
          <p:nvSpPr>
            <p:cNvPr name="TextBox 21" id="21"/>
            <p:cNvSpPr txBox="true"/>
            <p:nvPr/>
          </p:nvSpPr>
          <p:spPr>
            <a:xfrm>
              <a:off x="0" y="57150"/>
              <a:ext cx="788303" cy="85275"/>
            </a:xfrm>
            <a:prstGeom prst="rect">
              <a:avLst/>
            </a:prstGeom>
          </p:spPr>
          <p:txBody>
            <a:bodyPr anchor="ctr" rtlCol="false" tIns="177800" lIns="177800" bIns="177800" rIns="177800"/>
            <a:lstStyle/>
            <a:p>
              <a:pPr algn="ctr" marL="0" indent="0" lvl="0">
                <a:lnSpc>
                  <a:spcPts val="3600"/>
                </a:lnSpc>
              </a:pPr>
            </a:p>
          </p:txBody>
        </p:sp>
      </p:grpSp>
      <p:sp>
        <p:nvSpPr>
          <p:cNvPr name="TextBox 22" id="22"/>
          <p:cNvSpPr txBox="true"/>
          <p:nvPr/>
        </p:nvSpPr>
        <p:spPr>
          <a:xfrm rot="0">
            <a:off x="2689873" y="3710306"/>
            <a:ext cx="7747819" cy="1714500"/>
          </a:xfrm>
          <a:prstGeom prst="rect">
            <a:avLst/>
          </a:prstGeom>
        </p:spPr>
        <p:txBody>
          <a:bodyPr anchor="t" rtlCol="false" tIns="0" lIns="0" bIns="0" rIns="0">
            <a:spAutoFit/>
          </a:bodyPr>
          <a:lstStyle/>
          <a:p>
            <a:pPr algn="just" marL="971548" indent="-485774" lvl="1">
              <a:lnSpc>
                <a:spcPts val="4499"/>
              </a:lnSpc>
              <a:spcBef>
                <a:spcPct val="0"/>
              </a:spcBef>
              <a:buFont typeface="Arial"/>
              <a:buChar char="•"/>
            </a:pPr>
            <a:r>
              <a:rPr lang="en-US" b="true" sz="4499">
                <a:solidFill>
                  <a:srgbClr val="4A201C"/>
                </a:solidFill>
                <a:latin typeface="Public Sans Bold"/>
                <a:ea typeface="Public Sans Bold"/>
                <a:cs typeface="Public Sans Bold"/>
                <a:sym typeface="Public Sans Bold"/>
              </a:rPr>
              <a:t>Sử dụng mô hình Stable Diffusion kết hợp với kỹ thuật ControlNet.</a:t>
            </a:r>
          </a:p>
        </p:txBody>
      </p:sp>
      <p:sp>
        <p:nvSpPr>
          <p:cNvPr name="TextBox 23" id="23"/>
          <p:cNvSpPr txBox="true"/>
          <p:nvPr/>
        </p:nvSpPr>
        <p:spPr>
          <a:xfrm rot="0">
            <a:off x="6197380" y="6184389"/>
            <a:ext cx="8480624" cy="2838450"/>
          </a:xfrm>
          <a:prstGeom prst="rect">
            <a:avLst/>
          </a:prstGeom>
        </p:spPr>
        <p:txBody>
          <a:bodyPr anchor="t" rtlCol="false" tIns="0" lIns="0" bIns="0" rIns="0">
            <a:spAutoFit/>
          </a:bodyPr>
          <a:lstStyle/>
          <a:p>
            <a:pPr algn="just" marL="971548" indent="-485774" lvl="1">
              <a:lnSpc>
                <a:spcPts val="4499"/>
              </a:lnSpc>
              <a:spcBef>
                <a:spcPct val="0"/>
              </a:spcBef>
              <a:buFont typeface="Arial"/>
              <a:buChar char="•"/>
            </a:pPr>
            <a:r>
              <a:rPr lang="en-US" b="true" sz="4499">
                <a:solidFill>
                  <a:srgbClr val="4A201C"/>
                </a:solidFill>
                <a:latin typeface="Public Sans Bold"/>
                <a:ea typeface="Public Sans Bold"/>
                <a:cs typeface="Public Sans Bold"/>
                <a:sym typeface="Public Sans Bold"/>
              </a:rPr>
              <a:t>Cơ</a:t>
            </a:r>
            <a:r>
              <a:rPr lang="en-US" b="true" sz="4499">
                <a:solidFill>
                  <a:srgbClr val="4A201C"/>
                </a:solidFill>
                <a:latin typeface="Public Sans Bold"/>
                <a:ea typeface="Public Sans Bold"/>
                <a:cs typeface="Public Sans Bold"/>
                <a:sym typeface="Public Sans Bold"/>
              </a:rPr>
              <a:t> chế chính: Dùng văn bản để điều chỉnh mô hình khôi phục vào các vùng ảnh cụ thể mà không làm thay đổi nội dung ảnh.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BF9"/>
        </a:solidFill>
      </p:bgPr>
    </p:bg>
    <p:spTree>
      <p:nvGrpSpPr>
        <p:cNvPr id="1" name=""/>
        <p:cNvGrpSpPr/>
        <p:nvPr/>
      </p:nvGrpSpPr>
      <p:grpSpPr>
        <a:xfrm>
          <a:off x="0" y="0"/>
          <a:ext cx="0" cy="0"/>
          <a:chOff x="0" y="0"/>
          <a:chExt cx="0" cy="0"/>
        </a:xfrm>
      </p:grpSpPr>
      <p:sp>
        <p:nvSpPr>
          <p:cNvPr name="Freeform 2" id="2"/>
          <p:cNvSpPr/>
          <p:nvPr/>
        </p:nvSpPr>
        <p:spPr>
          <a:xfrm flipH="false" flipV="false" rot="-558992">
            <a:off x="-1774267" y="-712299"/>
            <a:ext cx="3548533" cy="3481998"/>
          </a:xfrm>
          <a:custGeom>
            <a:avLst/>
            <a:gdLst/>
            <a:ahLst/>
            <a:cxnLst/>
            <a:rect r="r" b="b" t="t" l="l"/>
            <a:pathLst>
              <a:path h="3481998" w="3548533">
                <a:moveTo>
                  <a:pt x="0" y="0"/>
                </a:moveTo>
                <a:lnTo>
                  <a:pt x="3548534" y="0"/>
                </a:lnTo>
                <a:lnTo>
                  <a:pt x="3548534" y="3481998"/>
                </a:lnTo>
                <a:lnTo>
                  <a:pt x="0" y="3481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4226">
            <a:off x="463587" y="1168219"/>
            <a:ext cx="1191515" cy="1302795"/>
          </a:xfrm>
          <a:custGeom>
            <a:avLst/>
            <a:gdLst/>
            <a:ahLst/>
            <a:cxnLst/>
            <a:rect r="r" b="b" t="t" l="l"/>
            <a:pathLst>
              <a:path h="1302795" w="1191515">
                <a:moveTo>
                  <a:pt x="0" y="0"/>
                </a:moveTo>
                <a:lnTo>
                  <a:pt x="1191515" y="0"/>
                </a:lnTo>
                <a:lnTo>
                  <a:pt x="1191515" y="1302795"/>
                </a:lnTo>
                <a:lnTo>
                  <a:pt x="0" y="1302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823813">
            <a:off x="16454229" y="8003125"/>
            <a:ext cx="3259485" cy="3157626"/>
          </a:xfrm>
          <a:custGeom>
            <a:avLst/>
            <a:gdLst/>
            <a:ahLst/>
            <a:cxnLst/>
            <a:rect r="r" b="b" t="t" l="l"/>
            <a:pathLst>
              <a:path h="3157626" w="3259485">
                <a:moveTo>
                  <a:pt x="3259484" y="0"/>
                </a:moveTo>
                <a:lnTo>
                  <a:pt x="0" y="0"/>
                </a:lnTo>
                <a:lnTo>
                  <a:pt x="0" y="3157626"/>
                </a:lnTo>
                <a:lnTo>
                  <a:pt x="3259484" y="3157626"/>
                </a:lnTo>
                <a:lnTo>
                  <a:pt x="325948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2641504">
            <a:off x="16495421" y="6729663"/>
            <a:ext cx="2181505" cy="2248974"/>
          </a:xfrm>
          <a:custGeom>
            <a:avLst/>
            <a:gdLst/>
            <a:ahLst/>
            <a:cxnLst/>
            <a:rect r="r" b="b" t="t" l="l"/>
            <a:pathLst>
              <a:path h="2248974" w="2181505">
                <a:moveTo>
                  <a:pt x="2181505" y="2248974"/>
                </a:moveTo>
                <a:lnTo>
                  <a:pt x="0" y="2248974"/>
                </a:lnTo>
                <a:lnTo>
                  <a:pt x="0" y="0"/>
                </a:lnTo>
                <a:lnTo>
                  <a:pt x="2181505" y="0"/>
                </a:lnTo>
                <a:lnTo>
                  <a:pt x="2181505" y="224897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376880" y="2835264"/>
            <a:ext cx="14991695" cy="5584406"/>
          </a:xfrm>
          <a:custGeom>
            <a:avLst/>
            <a:gdLst/>
            <a:ahLst/>
            <a:cxnLst/>
            <a:rect r="r" b="b" t="t" l="l"/>
            <a:pathLst>
              <a:path h="5584406" w="14991695">
                <a:moveTo>
                  <a:pt x="0" y="0"/>
                </a:moveTo>
                <a:lnTo>
                  <a:pt x="14991695" y="0"/>
                </a:lnTo>
                <a:lnTo>
                  <a:pt x="14991695" y="5584407"/>
                </a:lnTo>
                <a:lnTo>
                  <a:pt x="0" y="5584407"/>
                </a:lnTo>
                <a:lnTo>
                  <a:pt x="0" y="0"/>
                </a:lnTo>
                <a:close/>
              </a:path>
            </a:pathLst>
          </a:custGeom>
          <a:blipFill>
            <a:blip r:embed="rId10"/>
            <a:stretch>
              <a:fillRect l="0" t="0" r="0" b="0"/>
            </a:stretch>
          </a:blipFill>
        </p:spPr>
      </p:sp>
      <p:sp>
        <p:nvSpPr>
          <p:cNvPr name="TextBox 7" id="7"/>
          <p:cNvSpPr txBox="true"/>
          <p:nvPr/>
        </p:nvSpPr>
        <p:spPr>
          <a:xfrm rot="0">
            <a:off x="5335842" y="500119"/>
            <a:ext cx="12848810" cy="1202732"/>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Semi-Bold"/>
                <a:ea typeface="Gliker Semi-Bold"/>
                <a:cs typeface="Gliker Semi-Bold"/>
                <a:sym typeface="Gliker Semi-Bold"/>
              </a:rPr>
              <a:t>Lịch sử phát triển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BF9"/>
        </a:solidFill>
      </p:bgPr>
    </p:bg>
    <p:spTree>
      <p:nvGrpSpPr>
        <p:cNvPr id="1" name=""/>
        <p:cNvGrpSpPr/>
        <p:nvPr/>
      </p:nvGrpSpPr>
      <p:grpSpPr>
        <a:xfrm>
          <a:off x="0" y="0"/>
          <a:ext cx="0" cy="0"/>
          <a:chOff x="0" y="0"/>
          <a:chExt cx="0" cy="0"/>
        </a:xfrm>
      </p:grpSpPr>
      <p:sp>
        <p:nvSpPr>
          <p:cNvPr name="Freeform 2" id="2"/>
          <p:cNvSpPr/>
          <p:nvPr/>
        </p:nvSpPr>
        <p:spPr>
          <a:xfrm flipH="false" flipV="false" rot="-558992">
            <a:off x="-1774267" y="-712299"/>
            <a:ext cx="3548533" cy="3481998"/>
          </a:xfrm>
          <a:custGeom>
            <a:avLst/>
            <a:gdLst/>
            <a:ahLst/>
            <a:cxnLst/>
            <a:rect r="r" b="b" t="t" l="l"/>
            <a:pathLst>
              <a:path h="3481998" w="3548533">
                <a:moveTo>
                  <a:pt x="0" y="0"/>
                </a:moveTo>
                <a:lnTo>
                  <a:pt x="3548534" y="0"/>
                </a:lnTo>
                <a:lnTo>
                  <a:pt x="3548534" y="3481998"/>
                </a:lnTo>
                <a:lnTo>
                  <a:pt x="0" y="3481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4226">
            <a:off x="463587" y="1168219"/>
            <a:ext cx="1191515" cy="1302795"/>
          </a:xfrm>
          <a:custGeom>
            <a:avLst/>
            <a:gdLst/>
            <a:ahLst/>
            <a:cxnLst/>
            <a:rect r="r" b="b" t="t" l="l"/>
            <a:pathLst>
              <a:path h="1302795" w="1191515">
                <a:moveTo>
                  <a:pt x="0" y="0"/>
                </a:moveTo>
                <a:lnTo>
                  <a:pt x="1191515" y="0"/>
                </a:lnTo>
                <a:lnTo>
                  <a:pt x="1191515" y="1302795"/>
                </a:lnTo>
                <a:lnTo>
                  <a:pt x="0" y="1302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823813">
            <a:off x="16454229" y="8003125"/>
            <a:ext cx="3259485" cy="3157626"/>
          </a:xfrm>
          <a:custGeom>
            <a:avLst/>
            <a:gdLst/>
            <a:ahLst/>
            <a:cxnLst/>
            <a:rect r="r" b="b" t="t" l="l"/>
            <a:pathLst>
              <a:path h="3157626" w="3259485">
                <a:moveTo>
                  <a:pt x="3259484" y="0"/>
                </a:moveTo>
                <a:lnTo>
                  <a:pt x="0" y="0"/>
                </a:lnTo>
                <a:lnTo>
                  <a:pt x="0" y="3157626"/>
                </a:lnTo>
                <a:lnTo>
                  <a:pt x="3259484" y="3157626"/>
                </a:lnTo>
                <a:lnTo>
                  <a:pt x="325948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2641504">
            <a:off x="16495421" y="6729663"/>
            <a:ext cx="2181505" cy="2248974"/>
          </a:xfrm>
          <a:custGeom>
            <a:avLst/>
            <a:gdLst/>
            <a:ahLst/>
            <a:cxnLst/>
            <a:rect r="r" b="b" t="t" l="l"/>
            <a:pathLst>
              <a:path h="2248974" w="2181505">
                <a:moveTo>
                  <a:pt x="2181505" y="2248974"/>
                </a:moveTo>
                <a:lnTo>
                  <a:pt x="0" y="2248974"/>
                </a:lnTo>
                <a:lnTo>
                  <a:pt x="0" y="0"/>
                </a:lnTo>
                <a:lnTo>
                  <a:pt x="2181505" y="0"/>
                </a:lnTo>
                <a:lnTo>
                  <a:pt x="2181505" y="224897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043902" y="2478625"/>
            <a:ext cx="12773546" cy="6386773"/>
          </a:xfrm>
          <a:custGeom>
            <a:avLst/>
            <a:gdLst/>
            <a:ahLst/>
            <a:cxnLst/>
            <a:rect r="r" b="b" t="t" l="l"/>
            <a:pathLst>
              <a:path h="6386773" w="12773546">
                <a:moveTo>
                  <a:pt x="0" y="0"/>
                </a:moveTo>
                <a:lnTo>
                  <a:pt x="12773547" y="0"/>
                </a:lnTo>
                <a:lnTo>
                  <a:pt x="12773547" y="6386773"/>
                </a:lnTo>
                <a:lnTo>
                  <a:pt x="0" y="6386773"/>
                </a:lnTo>
                <a:lnTo>
                  <a:pt x="0" y="0"/>
                </a:lnTo>
                <a:close/>
              </a:path>
            </a:pathLst>
          </a:custGeom>
          <a:blipFill>
            <a:blip r:embed="rId10"/>
            <a:stretch>
              <a:fillRect l="0" t="0" r="0" b="0"/>
            </a:stretch>
          </a:blipFill>
        </p:spPr>
      </p:sp>
      <p:sp>
        <p:nvSpPr>
          <p:cNvPr name="TextBox 7" id="7"/>
          <p:cNvSpPr txBox="true"/>
          <p:nvPr/>
        </p:nvSpPr>
        <p:spPr>
          <a:xfrm rot="0">
            <a:off x="3277258" y="513059"/>
            <a:ext cx="12848810" cy="1202732"/>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Semi-Bold"/>
                <a:ea typeface="Gliker Semi-Bold"/>
                <a:cs typeface="Gliker Semi-Bold"/>
                <a:sym typeface="Gliker Semi-Bold"/>
              </a:rPr>
              <a:t>Diffusion Model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BF9"/>
        </a:solidFill>
      </p:bgPr>
    </p:bg>
    <p:spTree>
      <p:nvGrpSpPr>
        <p:cNvPr id="1" name=""/>
        <p:cNvGrpSpPr/>
        <p:nvPr/>
      </p:nvGrpSpPr>
      <p:grpSpPr>
        <a:xfrm>
          <a:off x="0" y="0"/>
          <a:ext cx="0" cy="0"/>
          <a:chOff x="0" y="0"/>
          <a:chExt cx="0" cy="0"/>
        </a:xfrm>
      </p:grpSpPr>
      <p:sp>
        <p:nvSpPr>
          <p:cNvPr name="Freeform 2" id="2"/>
          <p:cNvSpPr/>
          <p:nvPr/>
        </p:nvSpPr>
        <p:spPr>
          <a:xfrm flipH="false" flipV="false" rot="2324642">
            <a:off x="17269582" y="-2241231"/>
            <a:ext cx="3371488" cy="3508921"/>
          </a:xfrm>
          <a:custGeom>
            <a:avLst/>
            <a:gdLst/>
            <a:ahLst/>
            <a:cxnLst/>
            <a:rect r="r" b="b" t="t" l="l"/>
            <a:pathLst>
              <a:path h="3508921" w="3371488">
                <a:moveTo>
                  <a:pt x="0" y="0"/>
                </a:moveTo>
                <a:lnTo>
                  <a:pt x="3371488" y="0"/>
                </a:lnTo>
                <a:lnTo>
                  <a:pt x="3371488" y="3508921"/>
                </a:lnTo>
                <a:lnTo>
                  <a:pt x="0" y="35089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99625" y="331695"/>
            <a:ext cx="1733191" cy="1877103"/>
          </a:xfrm>
          <a:custGeom>
            <a:avLst/>
            <a:gdLst/>
            <a:ahLst/>
            <a:cxnLst/>
            <a:rect r="r" b="b" t="t" l="l"/>
            <a:pathLst>
              <a:path h="1877103" w="1733191">
                <a:moveTo>
                  <a:pt x="0" y="0"/>
                </a:moveTo>
                <a:lnTo>
                  <a:pt x="1733192" y="0"/>
                </a:lnTo>
                <a:lnTo>
                  <a:pt x="1733192" y="1877102"/>
                </a:lnTo>
                <a:lnTo>
                  <a:pt x="0" y="18771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1118016">
            <a:off x="14498386" y="-616768"/>
            <a:ext cx="2058143" cy="2292131"/>
          </a:xfrm>
          <a:custGeom>
            <a:avLst/>
            <a:gdLst/>
            <a:ahLst/>
            <a:cxnLst/>
            <a:rect r="r" b="b" t="t" l="l"/>
            <a:pathLst>
              <a:path h="2292131" w="2058143">
                <a:moveTo>
                  <a:pt x="2058143" y="0"/>
                </a:moveTo>
                <a:lnTo>
                  <a:pt x="0" y="0"/>
                </a:lnTo>
                <a:lnTo>
                  <a:pt x="0" y="2292131"/>
                </a:lnTo>
                <a:lnTo>
                  <a:pt x="2058143" y="2292131"/>
                </a:lnTo>
                <a:lnTo>
                  <a:pt x="205814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7012506" y="1636485"/>
            <a:ext cx="2273985" cy="2292131"/>
          </a:xfrm>
          <a:custGeom>
            <a:avLst/>
            <a:gdLst/>
            <a:ahLst/>
            <a:cxnLst/>
            <a:rect r="r" b="b" t="t" l="l"/>
            <a:pathLst>
              <a:path h="2292131" w="2273985">
                <a:moveTo>
                  <a:pt x="2273985" y="0"/>
                </a:moveTo>
                <a:lnTo>
                  <a:pt x="0" y="0"/>
                </a:lnTo>
                <a:lnTo>
                  <a:pt x="0" y="2292132"/>
                </a:lnTo>
                <a:lnTo>
                  <a:pt x="2273985" y="2292132"/>
                </a:lnTo>
                <a:lnTo>
                  <a:pt x="2273985"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603218">
            <a:off x="12949567" y="-1006466"/>
            <a:ext cx="1637936" cy="1790910"/>
          </a:xfrm>
          <a:custGeom>
            <a:avLst/>
            <a:gdLst/>
            <a:ahLst/>
            <a:cxnLst/>
            <a:rect r="r" b="b" t="t" l="l"/>
            <a:pathLst>
              <a:path h="1790910" w="1637936">
                <a:moveTo>
                  <a:pt x="0" y="0"/>
                </a:moveTo>
                <a:lnTo>
                  <a:pt x="1637937" y="0"/>
                </a:lnTo>
                <a:lnTo>
                  <a:pt x="1637937" y="1790910"/>
                </a:lnTo>
                <a:lnTo>
                  <a:pt x="0" y="17909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262937" y="7225140"/>
            <a:ext cx="2952810" cy="3285463"/>
          </a:xfrm>
          <a:custGeom>
            <a:avLst/>
            <a:gdLst/>
            <a:ahLst/>
            <a:cxnLst/>
            <a:rect r="r" b="b" t="t" l="l"/>
            <a:pathLst>
              <a:path h="3285463" w="2952810">
                <a:moveTo>
                  <a:pt x="2952810" y="0"/>
                </a:moveTo>
                <a:lnTo>
                  <a:pt x="0" y="0"/>
                </a:lnTo>
                <a:lnTo>
                  <a:pt x="0" y="3285463"/>
                </a:lnTo>
                <a:lnTo>
                  <a:pt x="2952810" y="3285463"/>
                </a:lnTo>
                <a:lnTo>
                  <a:pt x="295281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515952" y="1944091"/>
            <a:ext cx="13628156" cy="4991312"/>
          </a:xfrm>
          <a:custGeom>
            <a:avLst/>
            <a:gdLst/>
            <a:ahLst/>
            <a:cxnLst/>
            <a:rect r="r" b="b" t="t" l="l"/>
            <a:pathLst>
              <a:path h="4991312" w="13628156">
                <a:moveTo>
                  <a:pt x="0" y="0"/>
                </a:moveTo>
                <a:lnTo>
                  <a:pt x="13628156" y="0"/>
                </a:lnTo>
                <a:lnTo>
                  <a:pt x="13628156" y="4991313"/>
                </a:lnTo>
                <a:lnTo>
                  <a:pt x="0" y="4991313"/>
                </a:lnTo>
                <a:lnTo>
                  <a:pt x="0" y="0"/>
                </a:lnTo>
                <a:close/>
              </a:path>
            </a:pathLst>
          </a:custGeom>
          <a:blipFill>
            <a:blip r:embed="rId14"/>
            <a:stretch>
              <a:fillRect l="0" t="0" r="0" b="0"/>
            </a:stretch>
          </a:blipFill>
        </p:spPr>
      </p:sp>
      <p:sp>
        <p:nvSpPr>
          <p:cNvPr name="TextBox 9" id="9"/>
          <p:cNvSpPr txBox="true"/>
          <p:nvPr/>
        </p:nvSpPr>
        <p:spPr>
          <a:xfrm rot="0">
            <a:off x="188219" y="503145"/>
            <a:ext cx="11045979" cy="1197018"/>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Semi-Bold"/>
                <a:ea typeface="Gliker Semi-Bold"/>
                <a:cs typeface="Gliker Semi-Bold"/>
                <a:sym typeface="Gliker Semi-Bold"/>
              </a:rPr>
              <a:t>Stable Diffusion </a:t>
            </a:r>
          </a:p>
        </p:txBody>
      </p:sp>
      <p:grpSp>
        <p:nvGrpSpPr>
          <p:cNvPr name="Group 10" id="10"/>
          <p:cNvGrpSpPr/>
          <p:nvPr/>
        </p:nvGrpSpPr>
        <p:grpSpPr>
          <a:xfrm rot="0">
            <a:off x="3567592" y="7173529"/>
            <a:ext cx="4762438" cy="612645"/>
            <a:chOff x="0" y="0"/>
            <a:chExt cx="1115481" cy="143497"/>
          </a:xfrm>
        </p:grpSpPr>
        <p:sp>
          <p:nvSpPr>
            <p:cNvPr name="Freeform 11" id="11"/>
            <p:cNvSpPr/>
            <p:nvPr/>
          </p:nvSpPr>
          <p:spPr>
            <a:xfrm flipH="false" flipV="false" rot="0">
              <a:off x="0" y="0"/>
              <a:ext cx="1115481" cy="143497"/>
            </a:xfrm>
            <a:custGeom>
              <a:avLst/>
              <a:gdLst/>
              <a:ahLst/>
              <a:cxnLst/>
              <a:rect r="r" b="b" t="t" l="l"/>
              <a:pathLst>
                <a:path h="143497" w="1115481">
                  <a:moveTo>
                    <a:pt x="71748" y="0"/>
                  </a:moveTo>
                  <a:lnTo>
                    <a:pt x="1043733" y="0"/>
                  </a:lnTo>
                  <a:cubicBezTo>
                    <a:pt x="1083358" y="0"/>
                    <a:pt x="1115481" y="32123"/>
                    <a:pt x="1115481" y="71748"/>
                  </a:cubicBezTo>
                  <a:lnTo>
                    <a:pt x="1115481" y="71748"/>
                  </a:lnTo>
                  <a:cubicBezTo>
                    <a:pt x="1115481" y="90777"/>
                    <a:pt x="1107922" y="109027"/>
                    <a:pt x="1094466" y="122482"/>
                  </a:cubicBezTo>
                  <a:cubicBezTo>
                    <a:pt x="1081011" y="135937"/>
                    <a:pt x="1062761" y="143497"/>
                    <a:pt x="1043733" y="143497"/>
                  </a:cubicBezTo>
                  <a:lnTo>
                    <a:pt x="71748" y="143497"/>
                  </a:lnTo>
                  <a:cubicBezTo>
                    <a:pt x="52719" y="143497"/>
                    <a:pt x="34470" y="135937"/>
                    <a:pt x="21015" y="122482"/>
                  </a:cubicBezTo>
                  <a:cubicBezTo>
                    <a:pt x="7559" y="109027"/>
                    <a:pt x="0" y="90777"/>
                    <a:pt x="0" y="71748"/>
                  </a:cubicBezTo>
                  <a:lnTo>
                    <a:pt x="0" y="71748"/>
                  </a:lnTo>
                  <a:cubicBezTo>
                    <a:pt x="0" y="52719"/>
                    <a:pt x="7559" y="34470"/>
                    <a:pt x="21015" y="21015"/>
                  </a:cubicBezTo>
                  <a:cubicBezTo>
                    <a:pt x="34470" y="7559"/>
                    <a:pt x="52719" y="0"/>
                    <a:pt x="71748" y="0"/>
                  </a:cubicBezTo>
                  <a:close/>
                </a:path>
              </a:pathLst>
            </a:custGeom>
            <a:solidFill>
              <a:srgbClr val="FFBF56"/>
            </a:solidFill>
            <a:ln cap="rnd">
              <a:noFill/>
              <a:prstDash val="solid"/>
              <a:round/>
            </a:ln>
          </p:spPr>
        </p:sp>
        <p:sp>
          <p:nvSpPr>
            <p:cNvPr name="TextBox 12" id="12"/>
            <p:cNvSpPr txBox="true"/>
            <p:nvPr/>
          </p:nvSpPr>
          <p:spPr>
            <a:xfrm>
              <a:off x="0" y="57150"/>
              <a:ext cx="1115481" cy="86347"/>
            </a:xfrm>
            <a:prstGeom prst="rect">
              <a:avLst/>
            </a:prstGeom>
          </p:spPr>
          <p:txBody>
            <a:bodyPr anchor="ctr" rtlCol="false" tIns="177800" lIns="177800" bIns="177800" rIns="177800"/>
            <a:lstStyle/>
            <a:p>
              <a:pPr algn="ctr" marL="0" indent="0" lvl="0">
                <a:lnSpc>
                  <a:spcPts val="3600"/>
                </a:lnSpc>
              </a:pPr>
            </a:p>
          </p:txBody>
        </p:sp>
      </p:grpSp>
      <p:grpSp>
        <p:nvGrpSpPr>
          <p:cNvPr name="Group 13" id="13"/>
          <p:cNvGrpSpPr/>
          <p:nvPr/>
        </p:nvGrpSpPr>
        <p:grpSpPr>
          <a:xfrm rot="0">
            <a:off x="9423706" y="7786174"/>
            <a:ext cx="4344830" cy="612645"/>
            <a:chOff x="0" y="0"/>
            <a:chExt cx="1017667" cy="143497"/>
          </a:xfrm>
        </p:grpSpPr>
        <p:sp>
          <p:nvSpPr>
            <p:cNvPr name="Freeform 14" id="14"/>
            <p:cNvSpPr/>
            <p:nvPr/>
          </p:nvSpPr>
          <p:spPr>
            <a:xfrm flipH="false" flipV="false" rot="0">
              <a:off x="0" y="0"/>
              <a:ext cx="1017667" cy="143497"/>
            </a:xfrm>
            <a:custGeom>
              <a:avLst/>
              <a:gdLst/>
              <a:ahLst/>
              <a:cxnLst/>
              <a:rect r="r" b="b" t="t" l="l"/>
              <a:pathLst>
                <a:path h="143497" w="1017667">
                  <a:moveTo>
                    <a:pt x="71748" y="0"/>
                  </a:moveTo>
                  <a:lnTo>
                    <a:pt x="945918" y="0"/>
                  </a:lnTo>
                  <a:cubicBezTo>
                    <a:pt x="964947" y="0"/>
                    <a:pt x="983197" y="7559"/>
                    <a:pt x="996652" y="21015"/>
                  </a:cubicBezTo>
                  <a:cubicBezTo>
                    <a:pt x="1010108" y="34470"/>
                    <a:pt x="1017667" y="52719"/>
                    <a:pt x="1017667" y="71748"/>
                  </a:cubicBezTo>
                  <a:lnTo>
                    <a:pt x="1017667" y="71748"/>
                  </a:lnTo>
                  <a:cubicBezTo>
                    <a:pt x="1017667" y="111374"/>
                    <a:pt x="985544" y="143497"/>
                    <a:pt x="945918" y="143497"/>
                  </a:cubicBezTo>
                  <a:lnTo>
                    <a:pt x="71748" y="143497"/>
                  </a:lnTo>
                  <a:cubicBezTo>
                    <a:pt x="52719" y="143497"/>
                    <a:pt x="34470" y="135937"/>
                    <a:pt x="21015" y="122482"/>
                  </a:cubicBezTo>
                  <a:cubicBezTo>
                    <a:pt x="7559" y="109027"/>
                    <a:pt x="0" y="90777"/>
                    <a:pt x="0" y="71748"/>
                  </a:cubicBezTo>
                  <a:lnTo>
                    <a:pt x="0" y="71748"/>
                  </a:lnTo>
                  <a:cubicBezTo>
                    <a:pt x="0" y="52719"/>
                    <a:pt x="7559" y="34470"/>
                    <a:pt x="21015" y="21015"/>
                  </a:cubicBezTo>
                  <a:cubicBezTo>
                    <a:pt x="34470" y="7559"/>
                    <a:pt x="52719" y="0"/>
                    <a:pt x="71748" y="0"/>
                  </a:cubicBezTo>
                  <a:close/>
                </a:path>
              </a:pathLst>
            </a:custGeom>
            <a:solidFill>
              <a:srgbClr val="FFBF56"/>
            </a:solidFill>
            <a:ln cap="rnd">
              <a:noFill/>
              <a:prstDash val="solid"/>
              <a:round/>
            </a:ln>
          </p:spPr>
        </p:sp>
        <p:sp>
          <p:nvSpPr>
            <p:cNvPr name="TextBox 15" id="15"/>
            <p:cNvSpPr txBox="true"/>
            <p:nvPr/>
          </p:nvSpPr>
          <p:spPr>
            <a:xfrm>
              <a:off x="0" y="57150"/>
              <a:ext cx="1017667" cy="86347"/>
            </a:xfrm>
            <a:prstGeom prst="rect">
              <a:avLst/>
            </a:prstGeom>
          </p:spPr>
          <p:txBody>
            <a:bodyPr anchor="ctr" rtlCol="false" tIns="177800" lIns="177800" bIns="177800" rIns="177800"/>
            <a:lstStyle/>
            <a:p>
              <a:pPr algn="ctr" marL="0" indent="0" lvl="0">
                <a:lnSpc>
                  <a:spcPts val="3600"/>
                </a:lnSpc>
              </a:pPr>
            </a:p>
          </p:txBody>
        </p:sp>
      </p:grpSp>
      <p:sp>
        <p:nvSpPr>
          <p:cNvPr name="TextBox 16" id="16"/>
          <p:cNvSpPr txBox="true"/>
          <p:nvPr/>
        </p:nvSpPr>
        <p:spPr>
          <a:xfrm rot="0">
            <a:off x="2733707" y="7249729"/>
            <a:ext cx="14525593" cy="2797810"/>
          </a:xfrm>
          <a:prstGeom prst="rect">
            <a:avLst/>
          </a:prstGeom>
        </p:spPr>
        <p:txBody>
          <a:bodyPr anchor="t" rtlCol="false" tIns="0" lIns="0" bIns="0" rIns="0">
            <a:spAutoFit/>
          </a:bodyPr>
          <a:lstStyle/>
          <a:p>
            <a:pPr algn="just" marL="949959" indent="-474979" lvl="1">
              <a:lnSpc>
                <a:spcPts val="4399"/>
              </a:lnSpc>
              <a:spcBef>
                <a:spcPct val="0"/>
              </a:spcBef>
              <a:buFont typeface="Arial"/>
              <a:buChar char="•"/>
            </a:pPr>
            <a:r>
              <a:rPr lang="en-US" sz="4399">
                <a:solidFill>
                  <a:srgbClr val="4A201C"/>
                </a:solidFill>
                <a:latin typeface="Public Sans"/>
                <a:ea typeface="Public Sans"/>
                <a:cs typeface="Public Sans"/>
                <a:sym typeface="Public Sans"/>
              </a:rPr>
              <a:t>Stable</a:t>
            </a:r>
            <a:r>
              <a:rPr lang="en-US" sz="4399">
                <a:solidFill>
                  <a:srgbClr val="4A201C"/>
                </a:solidFill>
                <a:latin typeface="Public Sans"/>
                <a:ea typeface="Public Sans"/>
                <a:cs typeface="Public Sans"/>
                <a:sym typeface="Public Sans"/>
              </a:rPr>
              <a:t> Diffusion: Là mô hình sinh ảnh được huấn luyện dựa trên cơ chế Latent Diffusion, nghĩa là học cách loại bỏ nhiễu dần dần từ một bức hình nhiễu loạn ngẫu nhiên để khôi phục lại thành một bức ảnh rõ nét và có ý nghĩa.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BF9"/>
        </a:solidFill>
      </p:bgPr>
    </p:bg>
    <p:spTree>
      <p:nvGrpSpPr>
        <p:cNvPr id="1" name=""/>
        <p:cNvGrpSpPr/>
        <p:nvPr/>
      </p:nvGrpSpPr>
      <p:grpSpPr>
        <a:xfrm>
          <a:off x="0" y="0"/>
          <a:ext cx="0" cy="0"/>
          <a:chOff x="0" y="0"/>
          <a:chExt cx="0" cy="0"/>
        </a:xfrm>
      </p:grpSpPr>
      <p:sp>
        <p:nvSpPr>
          <p:cNvPr name="Freeform 2" id="2"/>
          <p:cNvSpPr/>
          <p:nvPr/>
        </p:nvSpPr>
        <p:spPr>
          <a:xfrm flipH="false" flipV="false" rot="2324642">
            <a:off x="17269582" y="-2241231"/>
            <a:ext cx="3371488" cy="3508921"/>
          </a:xfrm>
          <a:custGeom>
            <a:avLst/>
            <a:gdLst/>
            <a:ahLst/>
            <a:cxnLst/>
            <a:rect r="r" b="b" t="t" l="l"/>
            <a:pathLst>
              <a:path h="3508921" w="3371488">
                <a:moveTo>
                  <a:pt x="0" y="0"/>
                </a:moveTo>
                <a:lnTo>
                  <a:pt x="3371488" y="0"/>
                </a:lnTo>
                <a:lnTo>
                  <a:pt x="3371488" y="3508921"/>
                </a:lnTo>
                <a:lnTo>
                  <a:pt x="0" y="35089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99625" y="331695"/>
            <a:ext cx="1733191" cy="1877103"/>
          </a:xfrm>
          <a:custGeom>
            <a:avLst/>
            <a:gdLst/>
            <a:ahLst/>
            <a:cxnLst/>
            <a:rect r="r" b="b" t="t" l="l"/>
            <a:pathLst>
              <a:path h="1877103" w="1733191">
                <a:moveTo>
                  <a:pt x="0" y="0"/>
                </a:moveTo>
                <a:lnTo>
                  <a:pt x="1733192" y="0"/>
                </a:lnTo>
                <a:lnTo>
                  <a:pt x="1733192" y="1877102"/>
                </a:lnTo>
                <a:lnTo>
                  <a:pt x="0" y="18771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1118016">
            <a:off x="14498386" y="-616768"/>
            <a:ext cx="2058143" cy="2292131"/>
          </a:xfrm>
          <a:custGeom>
            <a:avLst/>
            <a:gdLst/>
            <a:ahLst/>
            <a:cxnLst/>
            <a:rect r="r" b="b" t="t" l="l"/>
            <a:pathLst>
              <a:path h="2292131" w="2058143">
                <a:moveTo>
                  <a:pt x="2058143" y="0"/>
                </a:moveTo>
                <a:lnTo>
                  <a:pt x="0" y="0"/>
                </a:lnTo>
                <a:lnTo>
                  <a:pt x="0" y="2292131"/>
                </a:lnTo>
                <a:lnTo>
                  <a:pt x="2058143" y="2292131"/>
                </a:lnTo>
                <a:lnTo>
                  <a:pt x="205814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7012506" y="1636485"/>
            <a:ext cx="2273985" cy="2292131"/>
          </a:xfrm>
          <a:custGeom>
            <a:avLst/>
            <a:gdLst/>
            <a:ahLst/>
            <a:cxnLst/>
            <a:rect r="r" b="b" t="t" l="l"/>
            <a:pathLst>
              <a:path h="2292131" w="2273985">
                <a:moveTo>
                  <a:pt x="2273985" y="0"/>
                </a:moveTo>
                <a:lnTo>
                  <a:pt x="0" y="0"/>
                </a:lnTo>
                <a:lnTo>
                  <a:pt x="0" y="2292132"/>
                </a:lnTo>
                <a:lnTo>
                  <a:pt x="2273985" y="2292132"/>
                </a:lnTo>
                <a:lnTo>
                  <a:pt x="2273985"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603218">
            <a:off x="12949567" y="-1006466"/>
            <a:ext cx="1637936" cy="1790910"/>
          </a:xfrm>
          <a:custGeom>
            <a:avLst/>
            <a:gdLst/>
            <a:ahLst/>
            <a:cxnLst/>
            <a:rect r="r" b="b" t="t" l="l"/>
            <a:pathLst>
              <a:path h="1790910" w="1637936">
                <a:moveTo>
                  <a:pt x="0" y="0"/>
                </a:moveTo>
                <a:lnTo>
                  <a:pt x="1637937" y="0"/>
                </a:lnTo>
                <a:lnTo>
                  <a:pt x="1637937" y="1790910"/>
                </a:lnTo>
                <a:lnTo>
                  <a:pt x="0" y="17909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262937" y="7225140"/>
            <a:ext cx="2952810" cy="3285463"/>
          </a:xfrm>
          <a:custGeom>
            <a:avLst/>
            <a:gdLst/>
            <a:ahLst/>
            <a:cxnLst/>
            <a:rect r="r" b="b" t="t" l="l"/>
            <a:pathLst>
              <a:path h="3285463" w="2952810">
                <a:moveTo>
                  <a:pt x="2952810" y="0"/>
                </a:moveTo>
                <a:lnTo>
                  <a:pt x="0" y="0"/>
                </a:lnTo>
                <a:lnTo>
                  <a:pt x="0" y="3285463"/>
                </a:lnTo>
                <a:lnTo>
                  <a:pt x="2952810" y="3285463"/>
                </a:lnTo>
                <a:lnTo>
                  <a:pt x="295281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515952" y="1944091"/>
            <a:ext cx="13628156" cy="4991312"/>
          </a:xfrm>
          <a:custGeom>
            <a:avLst/>
            <a:gdLst/>
            <a:ahLst/>
            <a:cxnLst/>
            <a:rect r="r" b="b" t="t" l="l"/>
            <a:pathLst>
              <a:path h="4991312" w="13628156">
                <a:moveTo>
                  <a:pt x="0" y="0"/>
                </a:moveTo>
                <a:lnTo>
                  <a:pt x="13628156" y="0"/>
                </a:lnTo>
                <a:lnTo>
                  <a:pt x="13628156" y="4991313"/>
                </a:lnTo>
                <a:lnTo>
                  <a:pt x="0" y="4991313"/>
                </a:lnTo>
                <a:lnTo>
                  <a:pt x="0" y="0"/>
                </a:lnTo>
                <a:close/>
              </a:path>
            </a:pathLst>
          </a:custGeom>
          <a:blipFill>
            <a:blip r:embed="rId14"/>
            <a:stretch>
              <a:fillRect l="0" t="0" r="0" b="0"/>
            </a:stretch>
          </a:blipFill>
        </p:spPr>
      </p:sp>
      <p:sp>
        <p:nvSpPr>
          <p:cNvPr name="TextBox 9" id="9"/>
          <p:cNvSpPr txBox="true"/>
          <p:nvPr/>
        </p:nvSpPr>
        <p:spPr>
          <a:xfrm rot="0">
            <a:off x="188219" y="503145"/>
            <a:ext cx="11045979" cy="1202732"/>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Semi-Bold"/>
                <a:ea typeface="Gliker Semi-Bold"/>
                <a:cs typeface="Gliker Semi-Bold"/>
                <a:sym typeface="Gliker Semi-Bold"/>
              </a:rPr>
              <a:t>Stable Diffusion </a:t>
            </a:r>
          </a:p>
        </p:txBody>
      </p:sp>
      <p:sp>
        <p:nvSpPr>
          <p:cNvPr name="TextBox 10" id="10"/>
          <p:cNvSpPr txBox="true"/>
          <p:nvPr/>
        </p:nvSpPr>
        <p:spPr>
          <a:xfrm rot="0">
            <a:off x="2733707" y="7249729"/>
            <a:ext cx="14525593" cy="2797810"/>
          </a:xfrm>
          <a:prstGeom prst="rect">
            <a:avLst/>
          </a:prstGeom>
        </p:spPr>
        <p:txBody>
          <a:bodyPr anchor="t" rtlCol="false" tIns="0" lIns="0" bIns="0" rIns="0">
            <a:spAutoFit/>
          </a:bodyPr>
          <a:lstStyle/>
          <a:p>
            <a:pPr algn="just" marL="949959" indent="-474979" lvl="1">
              <a:lnSpc>
                <a:spcPts val="4399"/>
              </a:lnSpc>
              <a:spcBef>
                <a:spcPct val="0"/>
              </a:spcBef>
              <a:buFont typeface="Arial"/>
              <a:buChar char="•"/>
            </a:pPr>
            <a:r>
              <a:rPr lang="en-US" sz="4399">
                <a:solidFill>
                  <a:srgbClr val="4A201C"/>
                </a:solidFill>
                <a:latin typeface="Public Sans"/>
                <a:ea typeface="Public Sans"/>
                <a:cs typeface="Public Sans"/>
                <a:sym typeface="Public Sans"/>
              </a:rPr>
              <a:t>Kiến trúc U-Net:</a:t>
            </a:r>
            <a:r>
              <a:rPr lang="en-US" sz="4399">
                <a:solidFill>
                  <a:srgbClr val="4A201C"/>
                </a:solidFill>
                <a:latin typeface="Public Sans"/>
                <a:ea typeface="Public Sans"/>
                <a:cs typeface="Public Sans"/>
                <a:sym typeface="Public Sans"/>
              </a:rPr>
              <a:t> Sử dụng mạng U-Net làm bộ máy tính toán trung tâm để dự đoán và trích xuất nhiễu tại từng bước thời gian, đồng thời kết hợp cơ chế Cross-Attention để hiểu và vẽ theo các mô tả văn bản của người dùng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BF9"/>
        </a:solidFill>
      </p:bgPr>
    </p:bg>
    <p:spTree>
      <p:nvGrpSpPr>
        <p:cNvPr id="1" name=""/>
        <p:cNvGrpSpPr/>
        <p:nvPr/>
      </p:nvGrpSpPr>
      <p:grpSpPr>
        <a:xfrm>
          <a:off x="0" y="0"/>
          <a:ext cx="0" cy="0"/>
          <a:chOff x="0" y="0"/>
          <a:chExt cx="0" cy="0"/>
        </a:xfrm>
      </p:grpSpPr>
      <p:sp>
        <p:nvSpPr>
          <p:cNvPr name="Freeform 2" id="2"/>
          <p:cNvSpPr/>
          <p:nvPr/>
        </p:nvSpPr>
        <p:spPr>
          <a:xfrm flipH="false" flipV="false" rot="2324642">
            <a:off x="17269582" y="-2241231"/>
            <a:ext cx="3371488" cy="3508921"/>
          </a:xfrm>
          <a:custGeom>
            <a:avLst/>
            <a:gdLst/>
            <a:ahLst/>
            <a:cxnLst/>
            <a:rect r="r" b="b" t="t" l="l"/>
            <a:pathLst>
              <a:path h="3508921" w="3371488">
                <a:moveTo>
                  <a:pt x="0" y="0"/>
                </a:moveTo>
                <a:lnTo>
                  <a:pt x="3371488" y="0"/>
                </a:lnTo>
                <a:lnTo>
                  <a:pt x="3371488" y="3508921"/>
                </a:lnTo>
                <a:lnTo>
                  <a:pt x="0" y="35089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99625" y="331695"/>
            <a:ext cx="1733191" cy="1877103"/>
          </a:xfrm>
          <a:custGeom>
            <a:avLst/>
            <a:gdLst/>
            <a:ahLst/>
            <a:cxnLst/>
            <a:rect r="r" b="b" t="t" l="l"/>
            <a:pathLst>
              <a:path h="1877103" w="1733191">
                <a:moveTo>
                  <a:pt x="0" y="0"/>
                </a:moveTo>
                <a:lnTo>
                  <a:pt x="1733192" y="0"/>
                </a:lnTo>
                <a:lnTo>
                  <a:pt x="1733192" y="1877102"/>
                </a:lnTo>
                <a:lnTo>
                  <a:pt x="0" y="18771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1118016">
            <a:off x="14498386" y="-616768"/>
            <a:ext cx="2058143" cy="2292131"/>
          </a:xfrm>
          <a:custGeom>
            <a:avLst/>
            <a:gdLst/>
            <a:ahLst/>
            <a:cxnLst/>
            <a:rect r="r" b="b" t="t" l="l"/>
            <a:pathLst>
              <a:path h="2292131" w="2058143">
                <a:moveTo>
                  <a:pt x="2058143" y="0"/>
                </a:moveTo>
                <a:lnTo>
                  <a:pt x="0" y="0"/>
                </a:lnTo>
                <a:lnTo>
                  <a:pt x="0" y="2292131"/>
                </a:lnTo>
                <a:lnTo>
                  <a:pt x="2058143" y="2292131"/>
                </a:lnTo>
                <a:lnTo>
                  <a:pt x="205814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7012506" y="1636485"/>
            <a:ext cx="2273985" cy="2292131"/>
          </a:xfrm>
          <a:custGeom>
            <a:avLst/>
            <a:gdLst/>
            <a:ahLst/>
            <a:cxnLst/>
            <a:rect r="r" b="b" t="t" l="l"/>
            <a:pathLst>
              <a:path h="2292131" w="2273985">
                <a:moveTo>
                  <a:pt x="2273985" y="0"/>
                </a:moveTo>
                <a:lnTo>
                  <a:pt x="0" y="0"/>
                </a:lnTo>
                <a:lnTo>
                  <a:pt x="0" y="2292132"/>
                </a:lnTo>
                <a:lnTo>
                  <a:pt x="2273985" y="2292132"/>
                </a:lnTo>
                <a:lnTo>
                  <a:pt x="2273985"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603218">
            <a:off x="12949567" y="-1006466"/>
            <a:ext cx="1637936" cy="1790910"/>
          </a:xfrm>
          <a:custGeom>
            <a:avLst/>
            <a:gdLst/>
            <a:ahLst/>
            <a:cxnLst/>
            <a:rect r="r" b="b" t="t" l="l"/>
            <a:pathLst>
              <a:path h="1790910" w="1637936">
                <a:moveTo>
                  <a:pt x="0" y="0"/>
                </a:moveTo>
                <a:lnTo>
                  <a:pt x="1637937" y="0"/>
                </a:lnTo>
                <a:lnTo>
                  <a:pt x="1637937" y="1790910"/>
                </a:lnTo>
                <a:lnTo>
                  <a:pt x="0" y="17909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262937" y="7225140"/>
            <a:ext cx="2952810" cy="3285463"/>
          </a:xfrm>
          <a:custGeom>
            <a:avLst/>
            <a:gdLst/>
            <a:ahLst/>
            <a:cxnLst/>
            <a:rect r="r" b="b" t="t" l="l"/>
            <a:pathLst>
              <a:path h="3285463" w="2952810">
                <a:moveTo>
                  <a:pt x="2952810" y="0"/>
                </a:moveTo>
                <a:lnTo>
                  <a:pt x="0" y="0"/>
                </a:lnTo>
                <a:lnTo>
                  <a:pt x="0" y="3285463"/>
                </a:lnTo>
                <a:lnTo>
                  <a:pt x="2952810" y="3285463"/>
                </a:lnTo>
                <a:lnTo>
                  <a:pt x="295281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515952" y="1944091"/>
            <a:ext cx="13628156" cy="4991312"/>
          </a:xfrm>
          <a:custGeom>
            <a:avLst/>
            <a:gdLst/>
            <a:ahLst/>
            <a:cxnLst/>
            <a:rect r="r" b="b" t="t" l="l"/>
            <a:pathLst>
              <a:path h="4991312" w="13628156">
                <a:moveTo>
                  <a:pt x="0" y="0"/>
                </a:moveTo>
                <a:lnTo>
                  <a:pt x="13628156" y="0"/>
                </a:lnTo>
                <a:lnTo>
                  <a:pt x="13628156" y="4991313"/>
                </a:lnTo>
                <a:lnTo>
                  <a:pt x="0" y="4991313"/>
                </a:lnTo>
                <a:lnTo>
                  <a:pt x="0" y="0"/>
                </a:lnTo>
                <a:close/>
              </a:path>
            </a:pathLst>
          </a:custGeom>
          <a:blipFill>
            <a:blip r:embed="rId14"/>
            <a:stretch>
              <a:fillRect l="0" t="0" r="0" b="0"/>
            </a:stretch>
          </a:blipFill>
        </p:spPr>
      </p:sp>
      <p:sp>
        <p:nvSpPr>
          <p:cNvPr name="TextBox 9" id="9"/>
          <p:cNvSpPr txBox="true"/>
          <p:nvPr/>
        </p:nvSpPr>
        <p:spPr>
          <a:xfrm rot="0">
            <a:off x="188219" y="503145"/>
            <a:ext cx="11045979" cy="1202732"/>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Semi-Bold"/>
                <a:ea typeface="Gliker Semi-Bold"/>
                <a:cs typeface="Gliker Semi-Bold"/>
                <a:sym typeface="Gliker Semi-Bold"/>
              </a:rPr>
              <a:t>Stable Diffusion </a:t>
            </a:r>
          </a:p>
        </p:txBody>
      </p:sp>
      <p:sp>
        <p:nvSpPr>
          <p:cNvPr name="TextBox 10" id="10"/>
          <p:cNvSpPr txBox="true"/>
          <p:nvPr/>
        </p:nvSpPr>
        <p:spPr>
          <a:xfrm rot="0">
            <a:off x="2733707" y="7249729"/>
            <a:ext cx="14525593" cy="2797810"/>
          </a:xfrm>
          <a:prstGeom prst="rect">
            <a:avLst/>
          </a:prstGeom>
        </p:spPr>
        <p:txBody>
          <a:bodyPr anchor="t" rtlCol="false" tIns="0" lIns="0" bIns="0" rIns="0">
            <a:spAutoFit/>
          </a:bodyPr>
          <a:lstStyle/>
          <a:p>
            <a:pPr algn="just" marL="949959" indent="-474979" lvl="1">
              <a:lnSpc>
                <a:spcPts val="4399"/>
              </a:lnSpc>
              <a:spcBef>
                <a:spcPct val="0"/>
              </a:spcBef>
              <a:buFont typeface="Arial"/>
              <a:buChar char="•"/>
            </a:pPr>
            <a:r>
              <a:rPr lang="en-US" sz="4399">
                <a:solidFill>
                  <a:srgbClr val="4A201C"/>
                </a:solidFill>
                <a:latin typeface="Public Sans"/>
                <a:ea typeface="Public Sans"/>
                <a:cs typeface="Public Sans"/>
                <a:sym typeface="Public Sans"/>
              </a:rPr>
              <a:t>Tối ưu hóa tài</a:t>
            </a:r>
            <a:r>
              <a:rPr lang="en-US" sz="4399">
                <a:solidFill>
                  <a:srgbClr val="4A201C"/>
                </a:solidFill>
                <a:latin typeface="Public Sans"/>
                <a:ea typeface="Public Sans"/>
                <a:cs typeface="Public Sans"/>
                <a:sym typeface="Public Sans"/>
              </a:rPr>
              <a:t> nguyên: Tích hợp VAE (Variational Autoencoder) để nén hình ảnh từ không gian pixel khổng lồ xuống không gian tiềm ẩn nhỏ gọn hơn, giúp quá trình sinh ảnh diễn ra nhanh chóng và chạy được trên các GPU phổ thông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BF9"/>
        </a:solidFill>
      </p:bgPr>
    </p:bg>
    <p:spTree>
      <p:nvGrpSpPr>
        <p:cNvPr id="1" name=""/>
        <p:cNvGrpSpPr/>
        <p:nvPr/>
      </p:nvGrpSpPr>
      <p:grpSpPr>
        <a:xfrm>
          <a:off x="0" y="0"/>
          <a:ext cx="0" cy="0"/>
          <a:chOff x="0" y="0"/>
          <a:chExt cx="0" cy="0"/>
        </a:xfrm>
      </p:grpSpPr>
      <p:sp>
        <p:nvSpPr>
          <p:cNvPr name="Freeform 2" id="2"/>
          <p:cNvSpPr/>
          <p:nvPr/>
        </p:nvSpPr>
        <p:spPr>
          <a:xfrm flipH="false" flipV="false" rot="5237771">
            <a:off x="-2786246" y="1999651"/>
            <a:ext cx="5873701" cy="3337330"/>
          </a:xfrm>
          <a:custGeom>
            <a:avLst/>
            <a:gdLst/>
            <a:ahLst/>
            <a:cxnLst/>
            <a:rect r="r" b="b" t="t" l="l"/>
            <a:pathLst>
              <a:path h="3337330" w="5873701">
                <a:moveTo>
                  <a:pt x="0" y="0"/>
                </a:moveTo>
                <a:lnTo>
                  <a:pt x="5873701" y="0"/>
                </a:lnTo>
                <a:lnTo>
                  <a:pt x="5873701" y="3337330"/>
                </a:lnTo>
                <a:lnTo>
                  <a:pt x="0" y="3337330"/>
                </a:lnTo>
                <a:lnTo>
                  <a:pt x="0" y="0"/>
                </a:lnTo>
                <a:close/>
              </a:path>
            </a:pathLst>
          </a:custGeom>
          <a:blipFill>
            <a:blip r:embed="rId2">
              <a:extLst>
                <a:ext uri="{96DAC541-7B7A-43D3-8B79-37D633B846F1}">
                  <asvg:svgBlip xmlns:asvg="http://schemas.microsoft.com/office/drawing/2016/SVG/main" r:embed="rId3"/>
                </a:ext>
              </a:extLst>
            </a:blip>
            <a:stretch>
              <a:fillRect l="-2155" t="-20560" r="-4797" b="-2735"/>
            </a:stretch>
          </a:blipFill>
        </p:spPr>
      </p:sp>
      <p:sp>
        <p:nvSpPr>
          <p:cNvPr name="Freeform 3" id="3"/>
          <p:cNvSpPr/>
          <p:nvPr/>
        </p:nvSpPr>
        <p:spPr>
          <a:xfrm flipH="false" flipV="false" rot="5400000">
            <a:off x="-1423192" y="-149472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15414024" y="7535281"/>
            <a:ext cx="4432175" cy="4460504"/>
          </a:xfrm>
          <a:custGeom>
            <a:avLst/>
            <a:gdLst/>
            <a:ahLst/>
            <a:cxnLst/>
            <a:rect r="r" b="b" t="t" l="l"/>
            <a:pathLst>
              <a:path h="4460504" w="4432175">
                <a:moveTo>
                  <a:pt x="0" y="4460504"/>
                </a:moveTo>
                <a:lnTo>
                  <a:pt x="4432174" y="4460504"/>
                </a:lnTo>
                <a:lnTo>
                  <a:pt x="4432174" y="0"/>
                </a:lnTo>
                <a:lnTo>
                  <a:pt x="0" y="0"/>
                </a:lnTo>
                <a:lnTo>
                  <a:pt x="0" y="446050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162010">
            <a:off x="13199126" y="7616110"/>
            <a:ext cx="3526663" cy="2359658"/>
          </a:xfrm>
          <a:custGeom>
            <a:avLst/>
            <a:gdLst/>
            <a:ahLst/>
            <a:cxnLst/>
            <a:rect r="r" b="b" t="t" l="l"/>
            <a:pathLst>
              <a:path h="2359658" w="3526663">
                <a:moveTo>
                  <a:pt x="0" y="0"/>
                </a:moveTo>
                <a:lnTo>
                  <a:pt x="3526664" y="0"/>
                </a:lnTo>
                <a:lnTo>
                  <a:pt x="3526664" y="2359659"/>
                </a:lnTo>
                <a:lnTo>
                  <a:pt x="0" y="23596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634208" y="3668316"/>
            <a:ext cx="10377895" cy="5565146"/>
          </a:xfrm>
          <a:custGeom>
            <a:avLst/>
            <a:gdLst/>
            <a:ahLst/>
            <a:cxnLst/>
            <a:rect r="r" b="b" t="t" l="l"/>
            <a:pathLst>
              <a:path h="5565146" w="10377895">
                <a:moveTo>
                  <a:pt x="0" y="0"/>
                </a:moveTo>
                <a:lnTo>
                  <a:pt x="10377895" y="0"/>
                </a:lnTo>
                <a:lnTo>
                  <a:pt x="10377895" y="5565146"/>
                </a:lnTo>
                <a:lnTo>
                  <a:pt x="0" y="5565146"/>
                </a:lnTo>
                <a:lnTo>
                  <a:pt x="0" y="0"/>
                </a:lnTo>
                <a:close/>
              </a:path>
            </a:pathLst>
          </a:custGeom>
          <a:blipFill>
            <a:blip r:embed="rId10"/>
            <a:stretch>
              <a:fillRect l="0" t="0" r="0" b="0"/>
            </a:stretch>
          </a:blipFill>
        </p:spPr>
      </p:sp>
      <p:sp>
        <p:nvSpPr>
          <p:cNvPr name="TextBox 7" id="7"/>
          <p:cNvSpPr txBox="true"/>
          <p:nvPr/>
        </p:nvSpPr>
        <p:spPr>
          <a:xfrm rot="0">
            <a:off x="6584132" y="467470"/>
            <a:ext cx="11045979" cy="1202732"/>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Bold"/>
                <a:ea typeface="Gliker Bold"/>
                <a:cs typeface="Gliker Bold"/>
                <a:sym typeface="Gliker Bold"/>
              </a:rPr>
              <a:t>Control Net</a:t>
            </a:r>
          </a:p>
        </p:txBody>
      </p:sp>
      <p:sp>
        <p:nvSpPr>
          <p:cNvPr name="TextBox 8" id="8"/>
          <p:cNvSpPr txBox="true"/>
          <p:nvPr/>
        </p:nvSpPr>
        <p:spPr>
          <a:xfrm rot="0">
            <a:off x="11451588" y="2361779"/>
            <a:ext cx="6516953" cy="4578247"/>
          </a:xfrm>
          <a:prstGeom prst="rect">
            <a:avLst/>
          </a:prstGeom>
        </p:spPr>
        <p:txBody>
          <a:bodyPr anchor="t" rtlCol="false" tIns="0" lIns="0" bIns="0" rIns="0">
            <a:spAutoFit/>
          </a:bodyPr>
          <a:lstStyle/>
          <a:p>
            <a:pPr algn="just">
              <a:lnSpc>
                <a:spcPts val="3995"/>
              </a:lnSpc>
              <a:spcBef>
                <a:spcPct val="0"/>
              </a:spcBef>
            </a:pPr>
            <a:r>
              <a:rPr lang="en-US" sz="3995">
                <a:solidFill>
                  <a:srgbClr val="4A201C"/>
                </a:solidFill>
                <a:latin typeface="Public Sans"/>
                <a:ea typeface="Public Sans"/>
                <a:cs typeface="Public Sans"/>
                <a:sym typeface="Public Sans"/>
              </a:rPr>
              <a:t>ControlNet</a:t>
            </a:r>
            <a:r>
              <a:rPr lang="en-US" sz="3995">
                <a:solidFill>
                  <a:srgbClr val="4A201C"/>
                </a:solidFill>
                <a:latin typeface="Public Sans"/>
                <a:ea typeface="Public Sans"/>
                <a:cs typeface="Public Sans"/>
                <a:sym typeface="Public Sans"/>
              </a:rPr>
              <a:t> là một mô hình bổ trợ được gắn thêm vào Stable Diffusion, cho phép người dùng kiểm soát cấu trúc không gian của ảnh đầu ra (dựa trên đường nét, dáng người, độ sâu...) thay vì chỉ ra lệnh bằng văn bản mơ hồ</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BF9"/>
        </a:solidFill>
      </p:bgPr>
    </p:bg>
    <p:spTree>
      <p:nvGrpSpPr>
        <p:cNvPr id="1" name=""/>
        <p:cNvGrpSpPr/>
        <p:nvPr/>
      </p:nvGrpSpPr>
      <p:grpSpPr>
        <a:xfrm>
          <a:off x="0" y="0"/>
          <a:ext cx="0" cy="0"/>
          <a:chOff x="0" y="0"/>
          <a:chExt cx="0" cy="0"/>
        </a:xfrm>
      </p:grpSpPr>
      <p:sp>
        <p:nvSpPr>
          <p:cNvPr name="Freeform 2" id="2"/>
          <p:cNvSpPr/>
          <p:nvPr/>
        </p:nvSpPr>
        <p:spPr>
          <a:xfrm flipH="false" flipV="false" rot="0">
            <a:off x="-478429" y="-471213"/>
            <a:ext cx="5332416" cy="3152791"/>
          </a:xfrm>
          <a:custGeom>
            <a:avLst/>
            <a:gdLst/>
            <a:ahLst/>
            <a:cxnLst/>
            <a:rect r="r" b="b" t="t" l="l"/>
            <a:pathLst>
              <a:path h="3152791" w="5332416">
                <a:moveTo>
                  <a:pt x="0" y="0"/>
                </a:moveTo>
                <a:lnTo>
                  <a:pt x="5332416" y="0"/>
                </a:lnTo>
                <a:lnTo>
                  <a:pt x="5332416" y="3152791"/>
                </a:lnTo>
                <a:lnTo>
                  <a:pt x="0" y="31527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0380" y="7982128"/>
            <a:ext cx="3230481" cy="3256259"/>
          </a:xfrm>
          <a:custGeom>
            <a:avLst/>
            <a:gdLst/>
            <a:ahLst/>
            <a:cxnLst/>
            <a:rect r="r" b="b" t="t" l="l"/>
            <a:pathLst>
              <a:path h="3256259" w="3230481">
                <a:moveTo>
                  <a:pt x="0" y="0"/>
                </a:moveTo>
                <a:lnTo>
                  <a:pt x="3230481" y="0"/>
                </a:lnTo>
                <a:lnTo>
                  <a:pt x="3230481" y="3256259"/>
                </a:lnTo>
                <a:lnTo>
                  <a:pt x="0" y="3256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564279">
            <a:off x="16497710" y="5125702"/>
            <a:ext cx="3206219" cy="3336915"/>
          </a:xfrm>
          <a:custGeom>
            <a:avLst/>
            <a:gdLst/>
            <a:ahLst/>
            <a:cxnLst/>
            <a:rect r="r" b="b" t="t" l="l"/>
            <a:pathLst>
              <a:path h="3336915" w="3206219">
                <a:moveTo>
                  <a:pt x="0" y="0"/>
                </a:moveTo>
                <a:lnTo>
                  <a:pt x="3206219" y="0"/>
                </a:lnTo>
                <a:lnTo>
                  <a:pt x="3206219" y="3336915"/>
                </a:lnTo>
                <a:lnTo>
                  <a:pt x="0" y="33369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05685">
            <a:off x="14590735" y="7207918"/>
            <a:ext cx="1416159" cy="1548420"/>
          </a:xfrm>
          <a:custGeom>
            <a:avLst/>
            <a:gdLst/>
            <a:ahLst/>
            <a:cxnLst/>
            <a:rect r="r" b="b" t="t" l="l"/>
            <a:pathLst>
              <a:path h="1548420" w="1416159">
                <a:moveTo>
                  <a:pt x="0" y="0"/>
                </a:moveTo>
                <a:lnTo>
                  <a:pt x="1416159" y="0"/>
                </a:lnTo>
                <a:lnTo>
                  <a:pt x="1416159" y="1548420"/>
                </a:lnTo>
                <a:lnTo>
                  <a:pt x="0" y="15484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1029115">
            <a:off x="11281983" y="8887905"/>
            <a:ext cx="4114800" cy="2361054"/>
          </a:xfrm>
          <a:custGeom>
            <a:avLst/>
            <a:gdLst/>
            <a:ahLst/>
            <a:cxnLst/>
            <a:rect r="r" b="b" t="t" l="l"/>
            <a:pathLst>
              <a:path h="2361054" w="4114800">
                <a:moveTo>
                  <a:pt x="0" y="2361054"/>
                </a:moveTo>
                <a:lnTo>
                  <a:pt x="4114800" y="2361054"/>
                </a:lnTo>
                <a:lnTo>
                  <a:pt x="4114800" y="0"/>
                </a:lnTo>
                <a:lnTo>
                  <a:pt x="0" y="0"/>
                </a:lnTo>
                <a:lnTo>
                  <a:pt x="0" y="2361054"/>
                </a:lnTo>
                <a:close/>
              </a:path>
            </a:pathLst>
          </a:custGeom>
          <a:blipFill>
            <a:blip r:embed="rId10">
              <a:extLst>
                <a:ext uri="{96DAC541-7B7A-43D3-8B79-37D633B846F1}">
                  <asvg:svgBlip xmlns:asvg="http://schemas.microsoft.com/office/drawing/2016/SVG/main" r:embed="rId11"/>
                </a:ext>
              </a:extLst>
            </a:blip>
            <a:stretch>
              <a:fillRect l="0" t="0" r="0" b="-3933"/>
            </a:stretch>
          </a:blipFill>
        </p:spPr>
      </p:sp>
      <p:sp>
        <p:nvSpPr>
          <p:cNvPr name="Freeform 7" id="7"/>
          <p:cNvSpPr/>
          <p:nvPr/>
        </p:nvSpPr>
        <p:spPr>
          <a:xfrm flipH="false" flipV="false" rot="0">
            <a:off x="2480050" y="1557742"/>
            <a:ext cx="13173378" cy="5236418"/>
          </a:xfrm>
          <a:custGeom>
            <a:avLst/>
            <a:gdLst/>
            <a:ahLst/>
            <a:cxnLst/>
            <a:rect r="r" b="b" t="t" l="l"/>
            <a:pathLst>
              <a:path h="5236418" w="13173378">
                <a:moveTo>
                  <a:pt x="0" y="0"/>
                </a:moveTo>
                <a:lnTo>
                  <a:pt x="13173377" y="0"/>
                </a:lnTo>
                <a:lnTo>
                  <a:pt x="13173377" y="5236417"/>
                </a:lnTo>
                <a:lnTo>
                  <a:pt x="0" y="5236417"/>
                </a:lnTo>
                <a:lnTo>
                  <a:pt x="0" y="0"/>
                </a:lnTo>
                <a:close/>
              </a:path>
            </a:pathLst>
          </a:custGeom>
          <a:blipFill>
            <a:blip r:embed="rId12"/>
            <a:stretch>
              <a:fillRect l="0" t="0" r="0" b="0"/>
            </a:stretch>
          </a:blipFill>
        </p:spPr>
      </p:sp>
      <p:sp>
        <p:nvSpPr>
          <p:cNvPr name="TextBox 8" id="8"/>
          <p:cNvSpPr txBox="true"/>
          <p:nvPr/>
        </p:nvSpPr>
        <p:spPr>
          <a:xfrm rot="0">
            <a:off x="7242021" y="355009"/>
            <a:ext cx="11045979" cy="1202732"/>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Bold"/>
                <a:ea typeface="Gliker Bold"/>
                <a:cs typeface="Gliker Bold"/>
                <a:sym typeface="Gliker Bold"/>
              </a:rPr>
              <a:t>BLIP</a:t>
            </a:r>
          </a:p>
        </p:txBody>
      </p:sp>
      <p:sp>
        <p:nvSpPr>
          <p:cNvPr name="TextBox 9" id="9"/>
          <p:cNvSpPr txBox="true"/>
          <p:nvPr/>
        </p:nvSpPr>
        <p:spPr>
          <a:xfrm rot="0">
            <a:off x="1028700" y="7103285"/>
            <a:ext cx="11892397" cy="2558947"/>
          </a:xfrm>
          <a:prstGeom prst="rect">
            <a:avLst/>
          </a:prstGeom>
        </p:spPr>
        <p:txBody>
          <a:bodyPr anchor="t" rtlCol="false" tIns="0" lIns="0" bIns="0" rIns="0">
            <a:spAutoFit/>
          </a:bodyPr>
          <a:lstStyle/>
          <a:p>
            <a:pPr algn="just">
              <a:lnSpc>
                <a:spcPts val="3995"/>
              </a:lnSpc>
              <a:spcBef>
                <a:spcPct val="0"/>
              </a:spcBef>
            </a:pPr>
            <a:r>
              <a:rPr lang="en-US" sz="3995">
                <a:solidFill>
                  <a:srgbClr val="4A201C"/>
                </a:solidFill>
                <a:latin typeface="Public Sans"/>
                <a:ea typeface="Public Sans"/>
                <a:cs typeface="Public Sans"/>
                <a:sym typeface="Public Sans"/>
              </a:rPr>
              <a:t>BLIP</a:t>
            </a:r>
            <a:r>
              <a:rPr lang="en-US" sz="3995">
                <a:solidFill>
                  <a:srgbClr val="4A201C"/>
                </a:solidFill>
                <a:latin typeface="Public Sans"/>
                <a:ea typeface="Public Sans"/>
                <a:cs typeface="Public Sans"/>
                <a:sym typeface="Public Sans"/>
              </a:rPr>
              <a:t> là một Mô hình Đa phương thức đóng vai trò là hiểu giữa Hình ảnh và Ngôn ngữ. Nhiệm vụ cốt lõi của nó là nhìn ảnh và tự động viết ra lời Captioning mô tả nội dung bức ảnh đó một cách chính xác</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BF9"/>
        </a:solidFill>
      </p:bgPr>
    </p:bg>
    <p:spTree>
      <p:nvGrpSpPr>
        <p:cNvPr id="1" name=""/>
        <p:cNvGrpSpPr/>
        <p:nvPr/>
      </p:nvGrpSpPr>
      <p:grpSpPr>
        <a:xfrm>
          <a:off x="0" y="0"/>
          <a:ext cx="0" cy="0"/>
          <a:chOff x="0" y="0"/>
          <a:chExt cx="0" cy="0"/>
        </a:xfrm>
      </p:grpSpPr>
      <p:sp>
        <p:nvSpPr>
          <p:cNvPr name="Freeform 2" id="2"/>
          <p:cNvSpPr/>
          <p:nvPr/>
        </p:nvSpPr>
        <p:spPr>
          <a:xfrm flipH="false" flipV="false" rot="0">
            <a:off x="-478429" y="-471213"/>
            <a:ext cx="5332416" cy="3152791"/>
          </a:xfrm>
          <a:custGeom>
            <a:avLst/>
            <a:gdLst/>
            <a:ahLst/>
            <a:cxnLst/>
            <a:rect r="r" b="b" t="t" l="l"/>
            <a:pathLst>
              <a:path h="3152791" w="5332416">
                <a:moveTo>
                  <a:pt x="0" y="0"/>
                </a:moveTo>
                <a:lnTo>
                  <a:pt x="5332416" y="0"/>
                </a:lnTo>
                <a:lnTo>
                  <a:pt x="5332416" y="3152791"/>
                </a:lnTo>
                <a:lnTo>
                  <a:pt x="0" y="31527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40380" y="7982128"/>
            <a:ext cx="3230481" cy="3256259"/>
          </a:xfrm>
          <a:custGeom>
            <a:avLst/>
            <a:gdLst/>
            <a:ahLst/>
            <a:cxnLst/>
            <a:rect r="r" b="b" t="t" l="l"/>
            <a:pathLst>
              <a:path h="3256259" w="3230481">
                <a:moveTo>
                  <a:pt x="0" y="0"/>
                </a:moveTo>
                <a:lnTo>
                  <a:pt x="3230481" y="0"/>
                </a:lnTo>
                <a:lnTo>
                  <a:pt x="3230481" y="3256259"/>
                </a:lnTo>
                <a:lnTo>
                  <a:pt x="0" y="3256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564279">
            <a:off x="16497710" y="5125702"/>
            <a:ext cx="3206219" cy="3336915"/>
          </a:xfrm>
          <a:custGeom>
            <a:avLst/>
            <a:gdLst/>
            <a:ahLst/>
            <a:cxnLst/>
            <a:rect r="r" b="b" t="t" l="l"/>
            <a:pathLst>
              <a:path h="3336915" w="3206219">
                <a:moveTo>
                  <a:pt x="0" y="0"/>
                </a:moveTo>
                <a:lnTo>
                  <a:pt x="3206219" y="0"/>
                </a:lnTo>
                <a:lnTo>
                  <a:pt x="3206219" y="3336915"/>
                </a:lnTo>
                <a:lnTo>
                  <a:pt x="0" y="33369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05685">
            <a:off x="14590735" y="7207918"/>
            <a:ext cx="1416159" cy="1548420"/>
          </a:xfrm>
          <a:custGeom>
            <a:avLst/>
            <a:gdLst/>
            <a:ahLst/>
            <a:cxnLst/>
            <a:rect r="r" b="b" t="t" l="l"/>
            <a:pathLst>
              <a:path h="1548420" w="1416159">
                <a:moveTo>
                  <a:pt x="0" y="0"/>
                </a:moveTo>
                <a:lnTo>
                  <a:pt x="1416159" y="0"/>
                </a:lnTo>
                <a:lnTo>
                  <a:pt x="1416159" y="1548420"/>
                </a:lnTo>
                <a:lnTo>
                  <a:pt x="0" y="15484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1029115">
            <a:off x="11281983" y="8887905"/>
            <a:ext cx="4114800" cy="2361054"/>
          </a:xfrm>
          <a:custGeom>
            <a:avLst/>
            <a:gdLst/>
            <a:ahLst/>
            <a:cxnLst/>
            <a:rect r="r" b="b" t="t" l="l"/>
            <a:pathLst>
              <a:path h="2361054" w="4114800">
                <a:moveTo>
                  <a:pt x="0" y="2361054"/>
                </a:moveTo>
                <a:lnTo>
                  <a:pt x="4114800" y="2361054"/>
                </a:lnTo>
                <a:lnTo>
                  <a:pt x="4114800" y="0"/>
                </a:lnTo>
                <a:lnTo>
                  <a:pt x="0" y="0"/>
                </a:lnTo>
                <a:lnTo>
                  <a:pt x="0" y="2361054"/>
                </a:lnTo>
                <a:close/>
              </a:path>
            </a:pathLst>
          </a:custGeom>
          <a:blipFill>
            <a:blip r:embed="rId10">
              <a:extLst>
                <a:ext uri="{96DAC541-7B7A-43D3-8B79-37D633B846F1}">
                  <asvg:svgBlip xmlns:asvg="http://schemas.microsoft.com/office/drawing/2016/SVG/main" r:embed="rId11"/>
                </a:ext>
              </a:extLst>
            </a:blip>
            <a:stretch>
              <a:fillRect l="0" t="0" r="0" b="-3933"/>
            </a:stretch>
          </a:blipFill>
        </p:spPr>
      </p:sp>
      <p:sp>
        <p:nvSpPr>
          <p:cNvPr name="Freeform 7" id="7"/>
          <p:cNvSpPr/>
          <p:nvPr/>
        </p:nvSpPr>
        <p:spPr>
          <a:xfrm flipH="false" flipV="false" rot="0">
            <a:off x="2187779" y="1557742"/>
            <a:ext cx="13739782" cy="5169593"/>
          </a:xfrm>
          <a:custGeom>
            <a:avLst/>
            <a:gdLst/>
            <a:ahLst/>
            <a:cxnLst/>
            <a:rect r="r" b="b" t="t" l="l"/>
            <a:pathLst>
              <a:path h="5169593" w="13739782">
                <a:moveTo>
                  <a:pt x="0" y="0"/>
                </a:moveTo>
                <a:lnTo>
                  <a:pt x="13739782" y="0"/>
                </a:lnTo>
                <a:lnTo>
                  <a:pt x="13739782" y="5169593"/>
                </a:lnTo>
                <a:lnTo>
                  <a:pt x="0" y="5169593"/>
                </a:lnTo>
                <a:lnTo>
                  <a:pt x="0" y="0"/>
                </a:lnTo>
                <a:close/>
              </a:path>
            </a:pathLst>
          </a:custGeom>
          <a:blipFill>
            <a:blip r:embed="rId12"/>
            <a:stretch>
              <a:fillRect l="0" t="0" r="0" b="0"/>
            </a:stretch>
          </a:blipFill>
        </p:spPr>
      </p:sp>
      <p:sp>
        <p:nvSpPr>
          <p:cNvPr name="TextBox 8" id="8"/>
          <p:cNvSpPr txBox="true"/>
          <p:nvPr/>
        </p:nvSpPr>
        <p:spPr>
          <a:xfrm rot="0">
            <a:off x="7242021" y="355009"/>
            <a:ext cx="11045979" cy="1202732"/>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Bold"/>
                <a:ea typeface="Gliker Bold"/>
                <a:cs typeface="Gliker Bold"/>
                <a:sym typeface="Gliker Bold"/>
              </a:rPr>
              <a:t>CLIP</a:t>
            </a:r>
          </a:p>
        </p:txBody>
      </p:sp>
      <p:sp>
        <p:nvSpPr>
          <p:cNvPr name="TextBox 9" id="9"/>
          <p:cNvSpPr txBox="true"/>
          <p:nvPr/>
        </p:nvSpPr>
        <p:spPr>
          <a:xfrm rot="0">
            <a:off x="1028700" y="7103285"/>
            <a:ext cx="12020181" cy="2558947"/>
          </a:xfrm>
          <a:prstGeom prst="rect">
            <a:avLst/>
          </a:prstGeom>
        </p:spPr>
        <p:txBody>
          <a:bodyPr anchor="t" rtlCol="false" tIns="0" lIns="0" bIns="0" rIns="0">
            <a:spAutoFit/>
          </a:bodyPr>
          <a:lstStyle/>
          <a:p>
            <a:pPr algn="just">
              <a:lnSpc>
                <a:spcPts val="3995"/>
              </a:lnSpc>
              <a:spcBef>
                <a:spcPct val="0"/>
              </a:spcBef>
            </a:pPr>
            <a:r>
              <a:rPr lang="en-US" sz="3995">
                <a:solidFill>
                  <a:srgbClr val="4A201C"/>
                </a:solidFill>
                <a:latin typeface="Public Sans"/>
                <a:ea typeface="Public Sans"/>
                <a:cs typeface="Public Sans"/>
                <a:sym typeface="Public Sans"/>
              </a:rPr>
              <a:t>CLIP</a:t>
            </a:r>
            <a:r>
              <a:rPr lang="en-US" sz="3995">
                <a:solidFill>
                  <a:srgbClr val="4A201C"/>
                </a:solidFill>
                <a:latin typeface="Public Sans"/>
                <a:ea typeface="Public Sans"/>
                <a:cs typeface="Public Sans"/>
                <a:sym typeface="Public Sans"/>
              </a:rPr>
              <a:t> là một mô hình học sự biểu diễn giữa hình ảnh và văn bản , đóng vai trò cầu nối giúp mô hình hiểu được mối liên hệ giữa hình ảnh và văn bản.</a:t>
            </a:r>
          </a:p>
          <a:p>
            <a:pPr algn="just">
              <a:lnSpc>
                <a:spcPts val="3995"/>
              </a:lnSpc>
              <a:spcBef>
                <a:spcPct val="0"/>
              </a:spcBef>
            </a:pPr>
            <a:r>
              <a:rPr lang="en-US" sz="3995">
                <a:solidFill>
                  <a:srgbClr val="4A201C"/>
                </a:solidFill>
                <a:latin typeface="Public Sans"/>
                <a:ea typeface="Public Sans"/>
                <a:cs typeface="Public Sans"/>
                <a:sym typeface="Public Sans"/>
              </a:rPr>
              <a:t>Dược huấn luyện trên cơ chế constrastive learning, học sự tương đồng giữa ảnh và văn bản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BF9"/>
        </a:solidFill>
      </p:bgPr>
    </p:bg>
    <p:spTree>
      <p:nvGrpSpPr>
        <p:cNvPr id="1" name=""/>
        <p:cNvGrpSpPr/>
        <p:nvPr/>
      </p:nvGrpSpPr>
      <p:grpSpPr>
        <a:xfrm>
          <a:off x="0" y="0"/>
          <a:ext cx="0" cy="0"/>
          <a:chOff x="0" y="0"/>
          <a:chExt cx="0" cy="0"/>
        </a:xfrm>
      </p:grpSpPr>
      <p:sp>
        <p:nvSpPr>
          <p:cNvPr name="Freeform 2" id="2"/>
          <p:cNvSpPr/>
          <p:nvPr/>
        </p:nvSpPr>
        <p:spPr>
          <a:xfrm flipH="true" flipV="false" rot="-3016826">
            <a:off x="-2012018" y="6295237"/>
            <a:ext cx="4621853" cy="4354171"/>
          </a:xfrm>
          <a:custGeom>
            <a:avLst/>
            <a:gdLst/>
            <a:ahLst/>
            <a:cxnLst/>
            <a:rect r="r" b="b" t="t" l="l"/>
            <a:pathLst>
              <a:path h="4354171" w="4621853">
                <a:moveTo>
                  <a:pt x="4621854" y="0"/>
                </a:moveTo>
                <a:lnTo>
                  <a:pt x="0" y="0"/>
                </a:lnTo>
                <a:lnTo>
                  <a:pt x="0" y="4354171"/>
                </a:lnTo>
                <a:lnTo>
                  <a:pt x="4621854" y="4354171"/>
                </a:lnTo>
                <a:lnTo>
                  <a:pt x="462185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288562" y="2462947"/>
            <a:ext cx="14825292" cy="7459291"/>
            <a:chOff x="0" y="0"/>
            <a:chExt cx="13279545" cy="6681554"/>
          </a:xfrm>
        </p:grpSpPr>
        <p:sp>
          <p:nvSpPr>
            <p:cNvPr name="Freeform 4" id="4"/>
            <p:cNvSpPr/>
            <p:nvPr/>
          </p:nvSpPr>
          <p:spPr>
            <a:xfrm flipH="false" flipV="false" rot="0">
              <a:off x="0" y="0"/>
              <a:ext cx="13279546" cy="6681554"/>
            </a:xfrm>
            <a:custGeom>
              <a:avLst/>
              <a:gdLst/>
              <a:ahLst/>
              <a:cxnLst/>
              <a:rect r="r" b="b" t="t" l="l"/>
              <a:pathLst>
                <a:path h="6681554" w="13279546">
                  <a:moveTo>
                    <a:pt x="13155085" y="6681554"/>
                  </a:moveTo>
                  <a:lnTo>
                    <a:pt x="124460" y="6681554"/>
                  </a:lnTo>
                  <a:cubicBezTo>
                    <a:pt x="55880" y="6681554"/>
                    <a:pt x="0" y="6625674"/>
                    <a:pt x="0" y="6557094"/>
                  </a:cubicBezTo>
                  <a:lnTo>
                    <a:pt x="0" y="124460"/>
                  </a:lnTo>
                  <a:cubicBezTo>
                    <a:pt x="0" y="55880"/>
                    <a:pt x="55880" y="0"/>
                    <a:pt x="124460" y="0"/>
                  </a:cubicBezTo>
                  <a:lnTo>
                    <a:pt x="13155085" y="0"/>
                  </a:lnTo>
                  <a:cubicBezTo>
                    <a:pt x="13223666" y="0"/>
                    <a:pt x="13279546" y="55880"/>
                    <a:pt x="13279546" y="124460"/>
                  </a:cubicBezTo>
                  <a:lnTo>
                    <a:pt x="13279546" y="6557094"/>
                  </a:lnTo>
                  <a:cubicBezTo>
                    <a:pt x="13279546" y="6625674"/>
                    <a:pt x="13223666" y="6681554"/>
                    <a:pt x="13155085" y="6681554"/>
                  </a:cubicBezTo>
                  <a:close/>
                </a:path>
              </a:pathLst>
            </a:custGeom>
            <a:solidFill>
              <a:srgbClr val="F4A25D"/>
            </a:solidFill>
          </p:spPr>
        </p:sp>
      </p:grpSp>
      <p:grpSp>
        <p:nvGrpSpPr>
          <p:cNvPr name="Group 5" id="5"/>
          <p:cNvGrpSpPr/>
          <p:nvPr/>
        </p:nvGrpSpPr>
        <p:grpSpPr>
          <a:xfrm rot="0">
            <a:off x="3584255" y="2761692"/>
            <a:ext cx="6821409" cy="2337680"/>
            <a:chOff x="0" y="0"/>
            <a:chExt cx="2978638" cy="1020772"/>
          </a:xfrm>
        </p:grpSpPr>
        <p:sp>
          <p:nvSpPr>
            <p:cNvPr name="Freeform 6" id="6"/>
            <p:cNvSpPr/>
            <p:nvPr/>
          </p:nvSpPr>
          <p:spPr>
            <a:xfrm flipH="false" flipV="false" rot="0">
              <a:off x="0" y="0"/>
              <a:ext cx="2978638" cy="1020772"/>
            </a:xfrm>
            <a:custGeom>
              <a:avLst/>
              <a:gdLst/>
              <a:ahLst/>
              <a:cxnLst/>
              <a:rect r="r" b="b" t="t" l="l"/>
              <a:pathLst>
                <a:path h="1020772" w="2978638">
                  <a:moveTo>
                    <a:pt x="2854178" y="1020772"/>
                  </a:moveTo>
                  <a:lnTo>
                    <a:pt x="124460" y="1020772"/>
                  </a:lnTo>
                  <a:cubicBezTo>
                    <a:pt x="55880" y="1020772"/>
                    <a:pt x="0" y="964892"/>
                    <a:pt x="0" y="896312"/>
                  </a:cubicBezTo>
                  <a:lnTo>
                    <a:pt x="0" y="124460"/>
                  </a:lnTo>
                  <a:cubicBezTo>
                    <a:pt x="0" y="55880"/>
                    <a:pt x="55880" y="0"/>
                    <a:pt x="124460" y="0"/>
                  </a:cubicBezTo>
                  <a:lnTo>
                    <a:pt x="2854178" y="0"/>
                  </a:lnTo>
                  <a:cubicBezTo>
                    <a:pt x="2922758" y="0"/>
                    <a:pt x="2978638" y="55880"/>
                    <a:pt x="2978638" y="124460"/>
                  </a:cubicBezTo>
                  <a:lnTo>
                    <a:pt x="2978638" y="896312"/>
                  </a:lnTo>
                  <a:cubicBezTo>
                    <a:pt x="2978638" y="964892"/>
                    <a:pt x="2922758" y="1020772"/>
                    <a:pt x="2854178" y="1020772"/>
                  </a:cubicBezTo>
                  <a:close/>
                </a:path>
              </a:pathLst>
            </a:custGeom>
            <a:solidFill>
              <a:srgbClr val="FFFBF9"/>
            </a:solidFill>
          </p:spPr>
        </p:sp>
      </p:grpSp>
      <p:grpSp>
        <p:nvGrpSpPr>
          <p:cNvPr name="Group 7" id="7"/>
          <p:cNvGrpSpPr/>
          <p:nvPr/>
        </p:nvGrpSpPr>
        <p:grpSpPr>
          <a:xfrm rot="0">
            <a:off x="3584255" y="5625027"/>
            <a:ext cx="6821409" cy="2337680"/>
            <a:chOff x="0" y="0"/>
            <a:chExt cx="2978638" cy="1020772"/>
          </a:xfrm>
        </p:grpSpPr>
        <p:sp>
          <p:nvSpPr>
            <p:cNvPr name="Freeform 8" id="8"/>
            <p:cNvSpPr/>
            <p:nvPr/>
          </p:nvSpPr>
          <p:spPr>
            <a:xfrm flipH="false" flipV="false" rot="0">
              <a:off x="0" y="0"/>
              <a:ext cx="2978638" cy="1020772"/>
            </a:xfrm>
            <a:custGeom>
              <a:avLst/>
              <a:gdLst/>
              <a:ahLst/>
              <a:cxnLst/>
              <a:rect r="r" b="b" t="t" l="l"/>
              <a:pathLst>
                <a:path h="1020772" w="2978638">
                  <a:moveTo>
                    <a:pt x="2854178" y="1020772"/>
                  </a:moveTo>
                  <a:lnTo>
                    <a:pt x="124460" y="1020772"/>
                  </a:lnTo>
                  <a:cubicBezTo>
                    <a:pt x="55880" y="1020772"/>
                    <a:pt x="0" y="964892"/>
                    <a:pt x="0" y="896312"/>
                  </a:cubicBezTo>
                  <a:lnTo>
                    <a:pt x="0" y="124460"/>
                  </a:lnTo>
                  <a:cubicBezTo>
                    <a:pt x="0" y="55880"/>
                    <a:pt x="55880" y="0"/>
                    <a:pt x="124460" y="0"/>
                  </a:cubicBezTo>
                  <a:lnTo>
                    <a:pt x="2854178" y="0"/>
                  </a:lnTo>
                  <a:cubicBezTo>
                    <a:pt x="2922758" y="0"/>
                    <a:pt x="2978638" y="55880"/>
                    <a:pt x="2978638" y="124460"/>
                  </a:cubicBezTo>
                  <a:lnTo>
                    <a:pt x="2978638" y="896312"/>
                  </a:lnTo>
                  <a:cubicBezTo>
                    <a:pt x="2978638" y="964892"/>
                    <a:pt x="2922758" y="1020772"/>
                    <a:pt x="2854178" y="1020772"/>
                  </a:cubicBezTo>
                  <a:close/>
                </a:path>
              </a:pathLst>
            </a:custGeom>
            <a:solidFill>
              <a:srgbClr val="FFFBF9"/>
            </a:solidFill>
          </p:spPr>
        </p:sp>
      </p:grpSp>
      <p:grpSp>
        <p:nvGrpSpPr>
          <p:cNvPr name="Group 9" id="9"/>
          <p:cNvGrpSpPr/>
          <p:nvPr/>
        </p:nvGrpSpPr>
        <p:grpSpPr>
          <a:xfrm rot="0">
            <a:off x="10996753" y="2761692"/>
            <a:ext cx="6821409" cy="2337680"/>
            <a:chOff x="0" y="0"/>
            <a:chExt cx="2978638" cy="1020772"/>
          </a:xfrm>
        </p:grpSpPr>
        <p:sp>
          <p:nvSpPr>
            <p:cNvPr name="Freeform 10" id="10"/>
            <p:cNvSpPr/>
            <p:nvPr/>
          </p:nvSpPr>
          <p:spPr>
            <a:xfrm flipH="false" flipV="false" rot="0">
              <a:off x="0" y="0"/>
              <a:ext cx="2978638" cy="1020772"/>
            </a:xfrm>
            <a:custGeom>
              <a:avLst/>
              <a:gdLst/>
              <a:ahLst/>
              <a:cxnLst/>
              <a:rect r="r" b="b" t="t" l="l"/>
              <a:pathLst>
                <a:path h="1020772" w="2978638">
                  <a:moveTo>
                    <a:pt x="2854178" y="1020772"/>
                  </a:moveTo>
                  <a:lnTo>
                    <a:pt x="124460" y="1020772"/>
                  </a:lnTo>
                  <a:cubicBezTo>
                    <a:pt x="55880" y="1020772"/>
                    <a:pt x="0" y="964892"/>
                    <a:pt x="0" y="896312"/>
                  </a:cubicBezTo>
                  <a:lnTo>
                    <a:pt x="0" y="124460"/>
                  </a:lnTo>
                  <a:cubicBezTo>
                    <a:pt x="0" y="55880"/>
                    <a:pt x="55880" y="0"/>
                    <a:pt x="124460" y="0"/>
                  </a:cubicBezTo>
                  <a:lnTo>
                    <a:pt x="2854178" y="0"/>
                  </a:lnTo>
                  <a:cubicBezTo>
                    <a:pt x="2922758" y="0"/>
                    <a:pt x="2978638" y="55880"/>
                    <a:pt x="2978638" y="124460"/>
                  </a:cubicBezTo>
                  <a:lnTo>
                    <a:pt x="2978638" y="896312"/>
                  </a:lnTo>
                  <a:cubicBezTo>
                    <a:pt x="2978638" y="964892"/>
                    <a:pt x="2922758" y="1020772"/>
                    <a:pt x="2854178" y="1020772"/>
                  </a:cubicBezTo>
                  <a:close/>
                </a:path>
              </a:pathLst>
            </a:custGeom>
            <a:solidFill>
              <a:srgbClr val="FFFBF9"/>
            </a:solidFill>
          </p:spPr>
        </p:sp>
      </p:grpSp>
      <p:grpSp>
        <p:nvGrpSpPr>
          <p:cNvPr name="Group 11" id="11"/>
          <p:cNvGrpSpPr/>
          <p:nvPr/>
        </p:nvGrpSpPr>
        <p:grpSpPr>
          <a:xfrm rot="0">
            <a:off x="10996753" y="5625027"/>
            <a:ext cx="6821409" cy="2337680"/>
            <a:chOff x="0" y="0"/>
            <a:chExt cx="2978638" cy="1020772"/>
          </a:xfrm>
        </p:grpSpPr>
        <p:sp>
          <p:nvSpPr>
            <p:cNvPr name="Freeform 12" id="12"/>
            <p:cNvSpPr/>
            <p:nvPr/>
          </p:nvSpPr>
          <p:spPr>
            <a:xfrm flipH="false" flipV="false" rot="0">
              <a:off x="0" y="0"/>
              <a:ext cx="2978638" cy="1020772"/>
            </a:xfrm>
            <a:custGeom>
              <a:avLst/>
              <a:gdLst/>
              <a:ahLst/>
              <a:cxnLst/>
              <a:rect r="r" b="b" t="t" l="l"/>
              <a:pathLst>
                <a:path h="1020772" w="2978638">
                  <a:moveTo>
                    <a:pt x="2854178" y="1020772"/>
                  </a:moveTo>
                  <a:lnTo>
                    <a:pt x="124460" y="1020772"/>
                  </a:lnTo>
                  <a:cubicBezTo>
                    <a:pt x="55880" y="1020772"/>
                    <a:pt x="0" y="964892"/>
                    <a:pt x="0" y="896312"/>
                  </a:cubicBezTo>
                  <a:lnTo>
                    <a:pt x="0" y="124460"/>
                  </a:lnTo>
                  <a:cubicBezTo>
                    <a:pt x="0" y="55880"/>
                    <a:pt x="55880" y="0"/>
                    <a:pt x="124460" y="0"/>
                  </a:cubicBezTo>
                  <a:lnTo>
                    <a:pt x="2854178" y="0"/>
                  </a:lnTo>
                  <a:cubicBezTo>
                    <a:pt x="2922758" y="0"/>
                    <a:pt x="2978638" y="55880"/>
                    <a:pt x="2978638" y="124460"/>
                  </a:cubicBezTo>
                  <a:lnTo>
                    <a:pt x="2978638" y="896312"/>
                  </a:lnTo>
                  <a:cubicBezTo>
                    <a:pt x="2978638" y="964892"/>
                    <a:pt x="2922758" y="1020772"/>
                    <a:pt x="2854178" y="1020772"/>
                  </a:cubicBezTo>
                  <a:close/>
                </a:path>
              </a:pathLst>
            </a:custGeom>
            <a:solidFill>
              <a:srgbClr val="FFFBF9"/>
            </a:solidFill>
          </p:spPr>
        </p:sp>
      </p:grpSp>
      <p:grpSp>
        <p:nvGrpSpPr>
          <p:cNvPr name="Group 13" id="13"/>
          <p:cNvGrpSpPr/>
          <p:nvPr/>
        </p:nvGrpSpPr>
        <p:grpSpPr>
          <a:xfrm rot="0">
            <a:off x="3584255" y="8491750"/>
            <a:ext cx="14233906" cy="1139590"/>
            <a:chOff x="0" y="0"/>
            <a:chExt cx="12749821" cy="1020772"/>
          </a:xfrm>
        </p:grpSpPr>
        <p:sp>
          <p:nvSpPr>
            <p:cNvPr name="Freeform 14" id="14"/>
            <p:cNvSpPr/>
            <p:nvPr/>
          </p:nvSpPr>
          <p:spPr>
            <a:xfrm flipH="false" flipV="false" rot="0">
              <a:off x="0" y="0"/>
              <a:ext cx="12749821" cy="1020772"/>
            </a:xfrm>
            <a:custGeom>
              <a:avLst/>
              <a:gdLst/>
              <a:ahLst/>
              <a:cxnLst/>
              <a:rect r="r" b="b" t="t" l="l"/>
              <a:pathLst>
                <a:path h="1020772" w="12749821">
                  <a:moveTo>
                    <a:pt x="12625360" y="1020772"/>
                  </a:moveTo>
                  <a:lnTo>
                    <a:pt x="124460" y="1020772"/>
                  </a:lnTo>
                  <a:cubicBezTo>
                    <a:pt x="55880" y="1020772"/>
                    <a:pt x="0" y="964892"/>
                    <a:pt x="0" y="896312"/>
                  </a:cubicBezTo>
                  <a:lnTo>
                    <a:pt x="0" y="124460"/>
                  </a:lnTo>
                  <a:cubicBezTo>
                    <a:pt x="0" y="55880"/>
                    <a:pt x="55880" y="0"/>
                    <a:pt x="124460" y="0"/>
                  </a:cubicBezTo>
                  <a:lnTo>
                    <a:pt x="12625360" y="0"/>
                  </a:lnTo>
                  <a:cubicBezTo>
                    <a:pt x="12693941" y="0"/>
                    <a:pt x="12749821" y="55880"/>
                    <a:pt x="12749821" y="124460"/>
                  </a:cubicBezTo>
                  <a:lnTo>
                    <a:pt x="12749821" y="896312"/>
                  </a:lnTo>
                  <a:cubicBezTo>
                    <a:pt x="12749821" y="964892"/>
                    <a:pt x="12693941" y="1020772"/>
                    <a:pt x="12625360" y="1020772"/>
                  </a:cubicBezTo>
                  <a:close/>
                </a:path>
              </a:pathLst>
            </a:custGeom>
            <a:solidFill>
              <a:srgbClr val="FFFBF9"/>
            </a:solidFill>
          </p:spPr>
        </p:sp>
      </p:grpSp>
      <p:sp>
        <p:nvSpPr>
          <p:cNvPr name="Freeform 15" id="15"/>
          <p:cNvSpPr/>
          <p:nvPr/>
        </p:nvSpPr>
        <p:spPr>
          <a:xfrm flipH="false" flipV="true" rot="3768278">
            <a:off x="803221" y="4352166"/>
            <a:ext cx="2182442" cy="2248974"/>
          </a:xfrm>
          <a:custGeom>
            <a:avLst/>
            <a:gdLst/>
            <a:ahLst/>
            <a:cxnLst/>
            <a:rect r="r" b="b" t="t" l="l"/>
            <a:pathLst>
              <a:path h="2248974" w="2182442">
                <a:moveTo>
                  <a:pt x="0" y="2248974"/>
                </a:moveTo>
                <a:lnTo>
                  <a:pt x="2182442" y="2248974"/>
                </a:lnTo>
                <a:lnTo>
                  <a:pt x="2182442" y="0"/>
                </a:lnTo>
                <a:lnTo>
                  <a:pt x="0" y="0"/>
                </a:lnTo>
                <a:lnTo>
                  <a:pt x="0" y="224897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2848555">
            <a:off x="-1192556" y="4096707"/>
            <a:ext cx="2388181" cy="2397686"/>
          </a:xfrm>
          <a:custGeom>
            <a:avLst/>
            <a:gdLst/>
            <a:ahLst/>
            <a:cxnLst/>
            <a:rect r="r" b="b" t="t" l="l"/>
            <a:pathLst>
              <a:path h="2397686" w="2388181">
                <a:moveTo>
                  <a:pt x="0" y="0"/>
                </a:moveTo>
                <a:lnTo>
                  <a:pt x="2388181" y="0"/>
                </a:lnTo>
                <a:lnTo>
                  <a:pt x="2388181" y="2397685"/>
                </a:lnTo>
                <a:lnTo>
                  <a:pt x="0" y="2397685"/>
                </a:lnTo>
                <a:lnTo>
                  <a:pt x="0" y="0"/>
                </a:lnTo>
                <a:close/>
              </a:path>
            </a:pathLst>
          </a:custGeom>
          <a:blipFill>
            <a:blip r:embed="rId6">
              <a:extLst>
                <a:ext uri="{96DAC541-7B7A-43D3-8B79-37D633B846F1}">
                  <asvg:svgBlip xmlns:asvg="http://schemas.microsoft.com/office/drawing/2016/SVG/main" r:embed="rId7"/>
                </a:ext>
              </a:extLst>
            </a:blip>
            <a:stretch>
              <a:fillRect l="0" t="-2382" r="0" b="-23300"/>
            </a:stretch>
          </a:blipFill>
        </p:spPr>
      </p:sp>
      <p:sp>
        <p:nvSpPr>
          <p:cNvPr name="Freeform 17" id="17"/>
          <p:cNvSpPr/>
          <p:nvPr/>
        </p:nvSpPr>
        <p:spPr>
          <a:xfrm flipH="false" flipV="false" rot="0">
            <a:off x="1133288" y="1833281"/>
            <a:ext cx="1993349" cy="2158862"/>
          </a:xfrm>
          <a:custGeom>
            <a:avLst/>
            <a:gdLst/>
            <a:ahLst/>
            <a:cxnLst/>
            <a:rect r="r" b="b" t="t" l="l"/>
            <a:pathLst>
              <a:path h="2158862" w="1993349">
                <a:moveTo>
                  <a:pt x="0" y="0"/>
                </a:moveTo>
                <a:lnTo>
                  <a:pt x="1993349" y="0"/>
                </a:lnTo>
                <a:lnTo>
                  <a:pt x="1993349" y="2158862"/>
                </a:lnTo>
                <a:lnTo>
                  <a:pt x="0" y="21588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1393050" y="1614095"/>
            <a:ext cx="2365166" cy="2378048"/>
          </a:xfrm>
          <a:custGeom>
            <a:avLst/>
            <a:gdLst/>
            <a:ahLst/>
            <a:cxnLst/>
            <a:rect r="r" b="b" t="t" l="l"/>
            <a:pathLst>
              <a:path h="2378048" w="2365166">
                <a:moveTo>
                  <a:pt x="0" y="0"/>
                </a:moveTo>
                <a:lnTo>
                  <a:pt x="2365167" y="0"/>
                </a:lnTo>
                <a:lnTo>
                  <a:pt x="2365167" y="2378048"/>
                </a:lnTo>
                <a:lnTo>
                  <a:pt x="0" y="23780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2044238" y="8868766"/>
            <a:ext cx="1624452" cy="1290763"/>
          </a:xfrm>
          <a:custGeom>
            <a:avLst/>
            <a:gdLst/>
            <a:ahLst/>
            <a:cxnLst/>
            <a:rect r="r" b="b" t="t" l="l"/>
            <a:pathLst>
              <a:path h="1290763" w="1624452">
                <a:moveTo>
                  <a:pt x="0" y="0"/>
                </a:moveTo>
                <a:lnTo>
                  <a:pt x="1624452" y="0"/>
                </a:lnTo>
                <a:lnTo>
                  <a:pt x="1624452" y="1290763"/>
                </a:lnTo>
                <a:lnTo>
                  <a:pt x="0" y="129076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true" rot="-1941356">
            <a:off x="-3159559" y="-1635420"/>
            <a:ext cx="4544869" cy="3221176"/>
          </a:xfrm>
          <a:custGeom>
            <a:avLst/>
            <a:gdLst/>
            <a:ahLst/>
            <a:cxnLst/>
            <a:rect r="r" b="b" t="t" l="l"/>
            <a:pathLst>
              <a:path h="3221176" w="4544869">
                <a:moveTo>
                  <a:pt x="0" y="3221176"/>
                </a:moveTo>
                <a:lnTo>
                  <a:pt x="4544870" y="3221176"/>
                </a:lnTo>
                <a:lnTo>
                  <a:pt x="4544870" y="0"/>
                </a:lnTo>
                <a:lnTo>
                  <a:pt x="0" y="0"/>
                </a:lnTo>
                <a:lnTo>
                  <a:pt x="0" y="3221176"/>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1" id="21"/>
          <p:cNvSpPr/>
          <p:nvPr/>
        </p:nvSpPr>
        <p:spPr>
          <a:xfrm flipH="false" flipV="false" rot="2573966">
            <a:off x="16422521" y="253918"/>
            <a:ext cx="415160" cy="404376"/>
          </a:xfrm>
          <a:custGeom>
            <a:avLst/>
            <a:gdLst/>
            <a:ahLst/>
            <a:cxnLst/>
            <a:rect r="r" b="b" t="t" l="l"/>
            <a:pathLst>
              <a:path h="404376" w="415160">
                <a:moveTo>
                  <a:pt x="0" y="0"/>
                </a:moveTo>
                <a:lnTo>
                  <a:pt x="415160" y="0"/>
                </a:lnTo>
                <a:lnTo>
                  <a:pt x="415160" y="404377"/>
                </a:lnTo>
                <a:lnTo>
                  <a:pt x="0" y="404377"/>
                </a:lnTo>
                <a:lnTo>
                  <a:pt x="0" y="0"/>
                </a:lnTo>
                <a:close/>
              </a:path>
            </a:pathLst>
          </a:custGeom>
          <a:blipFill>
            <a:blip r:embed="rId16"/>
            <a:stretch>
              <a:fillRect l="0" t="0" r="0" b="0"/>
            </a:stretch>
          </a:blipFill>
        </p:spPr>
      </p:sp>
      <p:sp>
        <p:nvSpPr>
          <p:cNvPr name="Freeform 22" id="22"/>
          <p:cNvSpPr/>
          <p:nvPr/>
        </p:nvSpPr>
        <p:spPr>
          <a:xfrm flipH="false" flipV="false" rot="0">
            <a:off x="12765011" y="2251216"/>
            <a:ext cx="358126" cy="268595"/>
          </a:xfrm>
          <a:custGeom>
            <a:avLst/>
            <a:gdLst/>
            <a:ahLst/>
            <a:cxnLst/>
            <a:rect r="r" b="b" t="t" l="l"/>
            <a:pathLst>
              <a:path h="268595" w="358126">
                <a:moveTo>
                  <a:pt x="0" y="0"/>
                </a:moveTo>
                <a:lnTo>
                  <a:pt x="358126" y="0"/>
                </a:lnTo>
                <a:lnTo>
                  <a:pt x="358126" y="268595"/>
                </a:lnTo>
                <a:lnTo>
                  <a:pt x="0" y="268595"/>
                </a:lnTo>
                <a:lnTo>
                  <a:pt x="0" y="0"/>
                </a:lnTo>
                <a:close/>
              </a:path>
            </a:pathLst>
          </a:custGeom>
          <a:blipFill>
            <a:blip r:embed="rId17"/>
            <a:stretch>
              <a:fillRect l="0" t="0" r="0" b="0"/>
            </a:stretch>
          </a:blipFill>
        </p:spPr>
      </p:sp>
      <p:sp>
        <p:nvSpPr>
          <p:cNvPr name="Freeform 23" id="23"/>
          <p:cNvSpPr/>
          <p:nvPr/>
        </p:nvSpPr>
        <p:spPr>
          <a:xfrm flipH="false" flipV="false" rot="0">
            <a:off x="16051803" y="1125608"/>
            <a:ext cx="358126" cy="268595"/>
          </a:xfrm>
          <a:custGeom>
            <a:avLst/>
            <a:gdLst/>
            <a:ahLst/>
            <a:cxnLst/>
            <a:rect r="r" b="b" t="t" l="l"/>
            <a:pathLst>
              <a:path h="268595" w="358126">
                <a:moveTo>
                  <a:pt x="0" y="0"/>
                </a:moveTo>
                <a:lnTo>
                  <a:pt x="358127" y="0"/>
                </a:lnTo>
                <a:lnTo>
                  <a:pt x="358127" y="268595"/>
                </a:lnTo>
                <a:lnTo>
                  <a:pt x="0" y="268595"/>
                </a:lnTo>
                <a:lnTo>
                  <a:pt x="0" y="0"/>
                </a:lnTo>
                <a:close/>
              </a:path>
            </a:pathLst>
          </a:custGeom>
          <a:blipFill>
            <a:blip r:embed="rId18"/>
            <a:stretch>
              <a:fillRect l="0" t="0" r="0" b="0"/>
            </a:stretch>
          </a:blipFill>
        </p:spPr>
      </p:sp>
      <p:sp>
        <p:nvSpPr>
          <p:cNvPr name="TextBox 24" id="24"/>
          <p:cNvSpPr txBox="true"/>
          <p:nvPr/>
        </p:nvSpPr>
        <p:spPr>
          <a:xfrm rot="0">
            <a:off x="7242021" y="171450"/>
            <a:ext cx="11045979" cy="2348361"/>
          </a:xfrm>
          <a:prstGeom prst="rect">
            <a:avLst/>
          </a:prstGeom>
        </p:spPr>
        <p:txBody>
          <a:bodyPr anchor="t" rtlCol="false" tIns="0" lIns="0" bIns="0" rIns="0">
            <a:spAutoFit/>
          </a:bodyPr>
          <a:lstStyle/>
          <a:p>
            <a:pPr algn="ctr" marL="0" indent="0" lvl="0">
              <a:lnSpc>
                <a:spcPts val="8998"/>
              </a:lnSpc>
            </a:pPr>
            <a:r>
              <a:rPr lang="en-US" b="true" sz="8998">
                <a:solidFill>
                  <a:srgbClr val="424F9D"/>
                </a:solidFill>
                <a:latin typeface="Gliker Bold"/>
                <a:ea typeface="Gliker Bold"/>
                <a:cs typeface="Gliker Bold"/>
                <a:sym typeface="Gliker Bold"/>
              </a:rPr>
              <a:t>Quy trình thuc hiên</a:t>
            </a:r>
          </a:p>
        </p:txBody>
      </p:sp>
      <p:sp>
        <p:nvSpPr>
          <p:cNvPr name="TextBox 25" id="25"/>
          <p:cNvSpPr txBox="true"/>
          <p:nvPr/>
        </p:nvSpPr>
        <p:spPr>
          <a:xfrm rot="0">
            <a:off x="3879942" y="3116265"/>
            <a:ext cx="5605788" cy="1044575"/>
          </a:xfrm>
          <a:prstGeom prst="rect">
            <a:avLst/>
          </a:prstGeom>
        </p:spPr>
        <p:txBody>
          <a:bodyPr anchor="t" rtlCol="false" tIns="0" lIns="0" bIns="0" rIns="0">
            <a:spAutoFit/>
          </a:bodyPr>
          <a:lstStyle/>
          <a:p>
            <a:pPr algn="just">
              <a:lnSpc>
                <a:spcPts val="3999"/>
              </a:lnSpc>
              <a:spcBef>
                <a:spcPct val="0"/>
              </a:spcBef>
            </a:pPr>
            <a:r>
              <a:rPr lang="en-US" b="true" sz="3999">
                <a:solidFill>
                  <a:srgbClr val="4A201C"/>
                </a:solidFill>
                <a:latin typeface="Public Sans Bold"/>
                <a:ea typeface="Public Sans Bold"/>
                <a:cs typeface="Public Sans Bold"/>
                <a:sym typeface="Public Sans Bold"/>
              </a:rPr>
              <a:t>Bướ</a:t>
            </a:r>
            <a:r>
              <a:rPr lang="en-US" b="true" sz="3999">
                <a:solidFill>
                  <a:srgbClr val="4A201C"/>
                </a:solidFill>
                <a:latin typeface="Public Sans Bold"/>
                <a:ea typeface="Public Sans Bold"/>
                <a:cs typeface="Public Sans Bold"/>
                <a:sym typeface="Public Sans Bold"/>
              </a:rPr>
              <a:t>c 1:</a:t>
            </a:r>
            <a:r>
              <a:rPr lang="en-US" sz="3999">
                <a:solidFill>
                  <a:srgbClr val="4A201C"/>
                </a:solidFill>
                <a:latin typeface="Public Sans"/>
                <a:ea typeface="Public Sans"/>
                <a:cs typeface="Public Sans"/>
                <a:sym typeface="Public Sans"/>
              </a:rPr>
              <a:t> Input: tải ảnh tư liệu đen trắng</a:t>
            </a:r>
          </a:p>
        </p:txBody>
      </p:sp>
      <p:sp>
        <p:nvSpPr>
          <p:cNvPr name="TextBox 26" id="26"/>
          <p:cNvSpPr txBox="true"/>
          <p:nvPr/>
        </p:nvSpPr>
        <p:spPr>
          <a:xfrm rot="0">
            <a:off x="11165714" y="2979387"/>
            <a:ext cx="6483486" cy="2054225"/>
          </a:xfrm>
          <a:prstGeom prst="rect">
            <a:avLst/>
          </a:prstGeom>
        </p:spPr>
        <p:txBody>
          <a:bodyPr anchor="t" rtlCol="false" tIns="0" lIns="0" bIns="0" rIns="0">
            <a:spAutoFit/>
          </a:bodyPr>
          <a:lstStyle/>
          <a:p>
            <a:pPr algn="just">
              <a:lnSpc>
                <a:spcPts val="3999"/>
              </a:lnSpc>
              <a:spcBef>
                <a:spcPct val="0"/>
              </a:spcBef>
            </a:pPr>
            <a:r>
              <a:rPr lang="en-US" b="true" sz="3999">
                <a:solidFill>
                  <a:srgbClr val="4A201C"/>
                </a:solidFill>
                <a:latin typeface="Public Sans Bold"/>
                <a:ea typeface="Public Sans Bold"/>
                <a:cs typeface="Public Sans Bold"/>
                <a:sym typeface="Public Sans Bold"/>
              </a:rPr>
              <a:t>Bước2:</a:t>
            </a:r>
            <a:r>
              <a:rPr lang="en-US" sz="3999">
                <a:solidFill>
                  <a:srgbClr val="4A201C"/>
                </a:solidFill>
                <a:latin typeface="Public Sans"/>
                <a:ea typeface="Public Sans"/>
                <a:cs typeface="Public Sans"/>
                <a:sym typeface="Public Sans"/>
              </a:rPr>
              <a:t>Auto Captioning: Sử dụng BLIP để mô tả, bổ xung ngữ nghĩa cho văn bản </a:t>
            </a:r>
          </a:p>
        </p:txBody>
      </p:sp>
      <p:sp>
        <p:nvSpPr>
          <p:cNvPr name="TextBox 27" id="27"/>
          <p:cNvSpPr txBox="true"/>
          <p:nvPr/>
        </p:nvSpPr>
        <p:spPr>
          <a:xfrm rot="0">
            <a:off x="3753216" y="6052505"/>
            <a:ext cx="6483486" cy="1549400"/>
          </a:xfrm>
          <a:prstGeom prst="rect">
            <a:avLst/>
          </a:prstGeom>
        </p:spPr>
        <p:txBody>
          <a:bodyPr anchor="t" rtlCol="false" tIns="0" lIns="0" bIns="0" rIns="0">
            <a:spAutoFit/>
          </a:bodyPr>
          <a:lstStyle/>
          <a:p>
            <a:pPr algn="just">
              <a:lnSpc>
                <a:spcPts val="3999"/>
              </a:lnSpc>
              <a:spcBef>
                <a:spcPct val="0"/>
              </a:spcBef>
            </a:pPr>
            <a:r>
              <a:rPr lang="en-US" b="true" sz="3999">
                <a:solidFill>
                  <a:srgbClr val="4A201C"/>
                </a:solidFill>
                <a:latin typeface="Public Sans Bold"/>
                <a:ea typeface="Public Sans Bold"/>
                <a:cs typeface="Public Sans Bold"/>
                <a:sym typeface="Public Sans Bold"/>
              </a:rPr>
              <a:t>Bước 3: </a:t>
            </a:r>
            <a:r>
              <a:rPr lang="en-US" sz="3999">
                <a:solidFill>
                  <a:srgbClr val="4A201C"/>
                </a:solidFill>
                <a:latin typeface="Public Sans"/>
                <a:ea typeface="Public Sans"/>
                <a:cs typeface="Public Sans"/>
                <a:sym typeface="Public Sans"/>
              </a:rPr>
              <a:t>User Prompting: Người dùng nhập hai hai prompt: Pos, Neg</a:t>
            </a:r>
          </a:p>
        </p:txBody>
      </p:sp>
      <p:sp>
        <p:nvSpPr>
          <p:cNvPr name="TextBox 28" id="28"/>
          <p:cNvSpPr txBox="true"/>
          <p:nvPr/>
        </p:nvSpPr>
        <p:spPr>
          <a:xfrm rot="0">
            <a:off x="6101766" y="8825008"/>
            <a:ext cx="9198883" cy="539750"/>
          </a:xfrm>
          <a:prstGeom prst="rect">
            <a:avLst/>
          </a:prstGeom>
        </p:spPr>
        <p:txBody>
          <a:bodyPr anchor="t" rtlCol="false" tIns="0" lIns="0" bIns="0" rIns="0">
            <a:spAutoFit/>
          </a:bodyPr>
          <a:lstStyle/>
          <a:p>
            <a:pPr algn="just">
              <a:lnSpc>
                <a:spcPts val="3999"/>
              </a:lnSpc>
              <a:spcBef>
                <a:spcPct val="0"/>
              </a:spcBef>
            </a:pPr>
            <a:r>
              <a:rPr lang="en-US" b="true" sz="3999">
                <a:solidFill>
                  <a:srgbClr val="4A201C"/>
                </a:solidFill>
                <a:latin typeface="Public Sans Bold"/>
                <a:ea typeface="Public Sans Bold"/>
                <a:cs typeface="Public Sans Bold"/>
                <a:sym typeface="Public Sans Bold"/>
              </a:rPr>
              <a:t>Bước 5: </a:t>
            </a:r>
            <a:r>
              <a:rPr lang="en-US" sz="3999">
                <a:solidFill>
                  <a:srgbClr val="4A201C"/>
                </a:solidFill>
                <a:latin typeface="Public Sans"/>
                <a:ea typeface="Public Sans"/>
                <a:cs typeface="Public Sans"/>
                <a:sym typeface="Public Sans"/>
              </a:rPr>
              <a:t>Output: Ảnh màu hoàn thiện.</a:t>
            </a:r>
          </a:p>
        </p:txBody>
      </p:sp>
      <p:sp>
        <p:nvSpPr>
          <p:cNvPr name="TextBox 29" id="29"/>
          <p:cNvSpPr txBox="true"/>
          <p:nvPr/>
        </p:nvSpPr>
        <p:spPr>
          <a:xfrm rot="0">
            <a:off x="11165714" y="6052505"/>
            <a:ext cx="6483486" cy="1549400"/>
          </a:xfrm>
          <a:prstGeom prst="rect">
            <a:avLst/>
          </a:prstGeom>
        </p:spPr>
        <p:txBody>
          <a:bodyPr anchor="t" rtlCol="false" tIns="0" lIns="0" bIns="0" rIns="0">
            <a:spAutoFit/>
          </a:bodyPr>
          <a:lstStyle/>
          <a:p>
            <a:pPr algn="just">
              <a:lnSpc>
                <a:spcPts val="3999"/>
              </a:lnSpc>
              <a:spcBef>
                <a:spcPct val="0"/>
              </a:spcBef>
            </a:pPr>
            <a:r>
              <a:rPr lang="en-US" b="true" sz="3999">
                <a:solidFill>
                  <a:srgbClr val="4A201C"/>
                </a:solidFill>
                <a:latin typeface="Public Sans Bold"/>
                <a:ea typeface="Public Sans Bold"/>
                <a:cs typeface="Public Sans Bold"/>
                <a:sym typeface="Public Sans Bold"/>
              </a:rPr>
              <a:t>Bước 4: </a:t>
            </a:r>
            <a:r>
              <a:rPr lang="en-US" sz="3999">
                <a:solidFill>
                  <a:srgbClr val="4A201C"/>
                </a:solidFill>
                <a:latin typeface="Public Sans"/>
                <a:ea typeface="Public Sans"/>
                <a:cs typeface="Public Sans"/>
                <a:sym typeface="Public Sans"/>
              </a:rPr>
              <a:t>Diffusion Process: Mô hình chạy qua 4 bước để phủ màu lên khung ảnh</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5B6BCB"/>
        </a:solidFill>
      </p:bgPr>
    </p:bg>
    <p:spTree>
      <p:nvGrpSpPr>
        <p:cNvPr id="1" name=""/>
        <p:cNvGrpSpPr/>
        <p:nvPr/>
      </p:nvGrpSpPr>
      <p:grpSpPr>
        <a:xfrm>
          <a:off x="0" y="0"/>
          <a:ext cx="0" cy="0"/>
          <a:chOff x="0" y="0"/>
          <a:chExt cx="0" cy="0"/>
        </a:xfrm>
      </p:grpSpPr>
      <p:sp>
        <p:nvSpPr>
          <p:cNvPr name="Freeform 2" id="2"/>
          <p:cNvSpPr/>
          <p:nvPr/>
        </p:nvSpPr>
        <p:spPr>
          <a:xfrm flipH="false" flipV="false" rot="-4319268">
            <a:off x="13661404" y="861690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7468641">
            <a:off x="16240089" y="7679409"/>
            <a:ext cx="3900546" cy="3674639"/>
          </a:xfrm>
          <a:custGeom>
            <a:avLst/>
            <a:gdLst/>
            <a:ahLst/>
            <a:cxnLst/>
            <a:rect r="r" b="b" t="t" l="l"/>
            <a:pathLst>
              <a:path h="3674639" w="3900546">
                <a:moveTo>
                  <a:pt x="3900546" y="0"/>
                </a:moveTo>
                <a:lnTo>
                  <a:pt x="0" y="0"/>
                </a:lnTo>
                <a:lnTo>
                  <a:pt x="0" y="3674639"/>
                </a:lnTo>
                <a:lnTo>
                  <a:pt x="3900546" y="3674639"/>
                </a:lnTo>
                <a:lnTo>
                  <a:pt x="390054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948164">
            <a:off x="13626429" y="9007569"/>
            <a:ext cx="1334756" cy="1037370"/>
          </a:xfrm>
          <a:custGeom>
            <a:avLst/>
            <a:gdLst/>
            <a:ahLst/>
            <a:cxnLst/>
            <a:rect r="r" b="b" t="t" l="l"/>
            <a:pathLst>
              <a:path h="1037370" w="1334756">
                <a:moveTo>
                  <a:pt x="0" y="0"/>
                </a:moveTo>
                <a:lnTo>
                  <a:pt x="1334756" y="0"/>
                </a:lnTo>
                <a:lnTo>
                  <a:pt x="1334756" y="1037369"/>
                </a:lnTo>
                <a:lnTo>
                  <a:pt x="0" y="1037369"/>
                </a:lnTo>
                <a:lnTo>
                  <a:pt x="0" y="0"/>
                </a:lnTo>
                <a:close/>
              </a:path>
            </a:pathLst>
          </a:custGeom>
          <a:blipFill>
            <a:blip r:embed="rId6">
              <a:extLst>
                <a:ext uri="{96DAC541-7B7A-43D3-8B79-37D633B846F1}">
                  <asvg:svgBlip xmlns:asvg="http://schemas.microsoft.com/office/drawing/2016/SVG/main" r:embed="rId7"/>
                </a:ext>
              </a:extLst>
            </a:blip>
            <a:stretch>
              <a:fillRect l="-3488" t="-6886" r="-1333" b="0"/>
            </a:stretch>
          </a:blipFill>
        </p:spPr>
      </p:sp>
      <p:sp>
        <p:nvSpPr>
          <p:cNvPr name="Freeform 5" id="5"/>
          <p:cNvSpPr/>
          <p:nvPr/>
        </p:nvSpPr>
        <p:spPr>
          <a:xfrm flipH="false" flipV="true" rot="-1691444">
            <a:off x="-2123305" y="-1362274"/>
            <a:ext cx="5138077" cy="3437841"/>
          </a:xfrm>
          <a:custGeom>
            <a:avLst/>
            <a:gdLst/>
            <a:ahLst/>
            <a:cxnLst/>
            <a:rect r="r" b="b" t="t" l="l"/>
            <a:pathLst>
              <a:path h="3437841" w="5138077">
                <a:moveTo>
                  <a:pt x="0" y="3437841"/>
                </a:moveTo>
                <a:lnTo>
                  <a:pt x="5138077" y="3437841"/>
                </a:lnTo>
                <a:lnTo>
                  <a:pt x="5138077" y="0"/>
                </a:lnTo>
                <a:lnTo>
                  <a:pt x="0" y="0"/>
                </a:lnTo>
                <a:lnTo>
                  <a:pt x="0" y="3437841"/>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314592" y="995564"/>
            <a:ext cx="15230850" cy="8262736"/>
          </a:xfrm>
          <a:custGeom>
            <a:avLst/>
            <a:gdLst/>
            <a:ahLst/>
            <a:cxnLst/>
            <a:rect r="r" b="b" t="t" l="l"/>
            <a:pathLst>
              <a:path h="8262736" w="15230850">
                <a:moveTo>
                  <a:pt x="0" y="0"/>
                </a:moveTo>
                <a:lnTo>
                  <a:pt x="15230851" y="0"/>
                </a:lnTo>
                <a:lnTo>
                  <a:pt x="15230851" y="8262736"/>
                </a:lnTo>
                <a:lnTo>
                  <a:pt x="0" y="8262736"/>
                </a:lnTo>
                <a:lnTo>
                  <a:pt x="0" y="0"/>
                </a:lnTo>
                <a:close/>
              </a:path>
            </a:pathLst>
          </a:custGeom>
          <a:blipFill>
            <a:blip r:embed="rId10"/>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B6BCB"/>
        </a:solidFill>
      </p:bgPr>
    </p:bg>
    <p:spTree>
      <p:nvGrpSpPr>
        <p:cNvPr id="1" name=""/>
        <p:cNvGrpSpPr/>
        <p:nvPr/>
      </p:nvGrpSpPr>
      <p:grpSpPr>
        <a:xfrm>
          <a:off x="0" y="0"/>
          <a:ext cx="0" cy="0"/>
          <a:chOff x="0" y="0"/>
          <a:chExt cx="0" cy="0"/>
        </a:xfrm>
      </p:grpSpPr>
      <p:sp>
        <p:nvSpPr>
          <p:cNvPr name="Freeform 2" id="2"/>
          <p:cNvSpPr/>
          <p:nvPr/>
        </p:nvSpPr>
        <p:spPr>
          <a:xfrm flipH="true" flipV="false" rot="-4645516">
            <a:off x="-503951" y="7227078"/>
            <a:ext cx="3863717" cy="3639943"/>
          </a:xfrm>
          <a:custGeom>
            <a:avLst/>
            <a:gdLst/>
            <a:ahLst/>
            <a:cxnLst/>
            <a:rect r="r" b="b" t="t" l="l"/>
            <a:pathLst>
              <a:path h="3639943" w="3863717">
                <a:moveTo>
                  <a:pt x="3863717" y="0"/>
                </a:moveTo>
                <a:lnTo>
                  <a:pt x="0" y="0"/>
                </a:lnTo>
                <a:lnTo>
                  <a:pt x="0" y="3639944"/>
                </a:lnTo>
                <a:lnTo>
                  <a:pt x="3863717" y="3639944"/>
                </a:lnTo>
                <a:lnTo>
                  <a:pt x="38637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162015">
            <a:off x="2077336" y="9075031"/>
            <a:ext cx="2604065" cy="2499903"/>
          </a:xfrm>
          <a:custGeom>
            <a:avLst/>
            <a:gdLst/>
            <a:ahLst/>
            <a:cxnLst/>
            <a:rect r="r" b="b" t="t" l="l"/>
            <a:pathLst>
              <a:path h="2499903" w="2604065">
                <a:moveTo>
                  <a:pt x="0" y="0"/>
                </a:moveTo>
                <a:lnTo>
                  <a:pt x="2604065" y="0"/>
                </a:lnTo>
                <a:lnTo>
                  <a:pt x="2604065" y="2499903"/>
                </a:lnTo>
                <a:lnTo>
                  <a:pt x="0" y="24999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704643">
            <a:off x="-1045572" y="4560179"/>
            <a:ext cx="3258083" cy="3157626"/>
          </a:xfrm>
          <a:custGeom>
            <a:avLst/>
            <a:gdLst/>
            <a:ahLst/>
            <a:cxnLst/>
            <a:rect r="r" b="b" t="t" l="l"/>
            <a:pathLst>
              <a:path h="3157626" w="3258083">
                <a:moveTo>
                  <a:pt x="0" y="3157626"/>
                </a:moveTo>
                <a:lnTo>
                  <a:pt x="3258083" y="3157626"/>
                </a:lnTo>
                <a:lnTo>
                  <a:pt x="3258083" y="0"/>
                </a:lnTo>
                <a:lnTo>
                  <a:pt x="0" y="0"/>
                </a:lnTo>
                <a:lnTo>
                  <a:pt x="0" y="315762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22581" y="347458"/>
            <a:ext cx="1475637" cy="1613453"/>
          </a:xfrm>
          <a:custGeom>
            <a:avLst/>
            <a:gdLst/>
            <a:ahLst/>
            <a:cxnLst/>
            <a:rect r="r" b="b" t="t" l="l"/>
            <a:pathLst>
              <a:path h="1613453" w="1475637">
                <a:moveTo>
                  <a:pt x="0" y="0"/>
                </a:moveTo>
                <a:lnTo>
                  <a:pt x="1475637" y="0"/>
                </a:lnTo>
                <a:lnTo>
                  <a:pt x="1475637" y="1613453"/>
                </a:lnTo>
                <a:lnTo>
                  <a:pt x="0" y="16134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3379369" y="3621811"/>
            <a:ext cx="11529263" cy="1708147"/>
          </a:xfrm>
          <a:prstGeom prst="rect">
            <a:avLst/>
          </a:prstGeom>
        </p:spPr>
        <p:txBody>
          <a:bodyPr anchor="t" rtlCol="false" tIns="0" lIns="0" bIns="0" rIns="0">
            <a:spAutoFit/>
          </a:bodyPr>
          <a:lstStyle/>
          <a:p>
            <a:pPr algn="ctr">
              <a:lnSpc>
                <a:spcPts val="14000"/>
              </a:lnSpc>
            </a:pPr>
            <a:r>
              <a:rPr lang="en-US" sz="10000">
                <a:solidFill>
                  <a:srgbClr val="FFFFFF"/>
                </a:solidFill>
                <a:latin typeface="Blueberry"/>
                <a:ea typeface="Blueberry"/>
                <a:cs typeface="Blueberry"/>
                <a:sym typeface="Blueberry"/>
              </a:rPr>
              <a:t>DEMO</a:t>
            </a:r>
          </a:p>
        </p:txBody>
      </p:sp>
      <p:grpSp>
        <p:nvGrpSpPr>
          <p:cNvPr name="Group 7" id="7"/>
          <p:cNvGrpSpPr/>
          <p:nvPr/>
        </p:nvGrpSpPr>
        <p:grpSpPr>
          <a:xfrm rot="0">
            <a:off x="6437708" y="6463433"/>
            <a:ext cx="5412585" cy="981498"/>
            <a:chOff x="0" y="0"/>
            <a:chExt cx="6417756" cy="1163772"/>
          </a:xfrm>
        </p:grpSpPr>
        <p:sp>
          <p:nvSpPr>
            <p:cNvPr name="Freeform 8" id="8"/>
            <p:cNvSpPr/>
            <p:nvPr/>
          </p:nvSpPr>
          <p:spPr>
            <a:xfrm flipH="false" flipV="false" rot="0">
              <a:off x="0" y="0"/>
              <a:ext cx="6417756" cy="1163772"/>
            </a:xfrm>
            <a:custGeom>
              <a:avLst/>
              <a:gdLst/>
              <a:ahLst/>
              <a:cxnLst/>
              <a:rect r="r" b="b" t="t" l="l"/>
              <a:pathLst>
                <a:path h="1163772" w="6417756">
                  <a:moveTo>
                    <a:pt x="6293296" y="1163772"/>
                  </a:moveTo>
                  <a:lnTo>
                    <a:pt x="124460" y="1163772"/>
                  </a:lnTo>
                  <a:cubicBezTo>
                    <a:pt x="55880" y="1163772"/>
                    <a:pt x="0" y="1107892"/>
                    <a:pt x="0" y="1039312"/>
                  </a:cubicBezTo>
                  <a:lnTo>
                    <a:pt x="0" y="124460"/>
                  </a:lnTo>
                  <a:cubicBezTo>
                    <a:pt x="0" y="55880"/>
                    <a:pt x="55880" y="0"/>
                    <a:pt x="124460" y="0"/>
                  </a:cubicBezTo>
                  <a:lnTo>
                    <a:pt x="6293296" y="0"/>
                  </a:lnTo>
                  <a:cubicBezTo>
                    <a:pt x="6361876" y="0"/>
                    <a:pt x="6417756" y="55880"/>
                    <a:pt x="6417756" y="124460"/>
                  </a:cubicBezTo>
                  <a:lnTo>
                    <a:pt x="6417756" y="1039312"/>
                  </a:lnTo>
                  <a:cubicBezTo>
                    <a:pt x="6417756" y="1107892"/>
                    <a:pt x="6361876" y="1163772"/>
                    <a:pt x="6293296" y="1163772"/>
                  </a:cubicBezTo>
                  <a:close/>
                </a:path>
              </a:pathLst>
            </a:custGeom>
            <a:solidFill>
              <a:srgbClr val="F4A25D"/>
            </a:solidFill>
          </p:spPr>
        </p:sp>
      </p:grpSp>
      <p:sp>
        <p:nvSpPr>
          <p:cNvPr name="TextBox 9" id="9"/>
          <p:cNvSpPr txBox="true"/>
          <p:nvPr/>
        </p:nvSpPr>
        <p:spPr>
          <a:xfrm rot="0">
            <a:off x="6631646" y="6746536"/>
            <a:ext cx="5024708" cy="481965"/>
          </a:xfrm>
          <a:prstGeom prst="rect">
            <a:avLst/>
          </a:prstGeom>
        </p:spPr>
        <p:txBody>
          <a:bodyPr anchor="t" rtlCol="false" tIns="0" lIns="0" bIns="0" rIns="0">
            <a:spAutoFit/>
          </a:bodyPr>
          <a:lstStyle/>
          <a:p>
            <a:pPr algn="ctr">
              <a:lnSpc>
                <a:spcPts val="3600"/>
              </a:lnSpc>
            </a:pPr>
            <a:r>
              <a:rPr lang="en-US" sz="3600">
                <a:solidFill>
                  <a:srgbClr val="FFFFFF"/>
                </a:solidFill>
                <a:latin typeface="Nunito"/>
                <a:ea typeface="Nunito"/>
                <a:cs typeface="Nunito"/>
                <a:sym typeface="Nunito"/>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DAG5zxMztJk</dc:identifier>
  <dcterms:modified xsi:type="dcterms:W3CDTF">2011-08-01T06:04:30Z</dcterms:modified>
  <cp:revision>1</cp:revision>
  <dc:title>xla</dc:title>
</cp:coreProperties>
</file>